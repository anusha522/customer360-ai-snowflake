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4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image" Target="../media/image14.png"/><Relationship Id="rId11" Type="http://schemas.openxmlformats.org/officeDocument/2006/relationships/image" Target="../media/image15.png"/><Relationship Id="rId12" Type="http://schemas.openxmlformats.org/officeDocument/2006/relationships/image" Target="../media/image16.png"/><Relationship Id="rId13" Type="http://schemas.openxmlformats.org/officeDocument/2006/relationships/image" Target="../media/image17.png"/><Relationship Id="rId14" Type="http://schemas.openxmlformats.org/officeDocument/2006/relationships/image" Target="../media/image18.png"/><Relationship Id="rId15" Type="http://schemas.openxmlformats.org/officeDocument/2006/relationships/image" Target="../media/image1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Relationship Id="rId10" Type="http://schemas.openxmlformats.org/officeDocument/2006/relationships/image" Target="../media/image11.png"/><Relationship Id="rId11" Type="http://schemas.openxmlformats.org/officeDocument/2006/relationships/image" Target="../media/image4.png"/><Relationship Id="rId12" Type="http://schemas.openxmlformats.org/officeDocument/2006/relationships/image" Target="../media/image12.png"/><Relationship Id="rId13" Type="http://schemas.openxmlformats.org/officeDocument/2006/relationships/image" Target="../media/image28.png"/><Relationship Id="rId14" Type="http://schemas.openxmlformats.org/officeDocument/2006/relationships/image" Target="../media/image29.png"/><Relationship Id="rId15" Type="http://schemas.openxmlformats.org/officeDocument/2006/relationships/image" Target="../media/image30.png"/><Relationship Id="rId16" Type="http://schemas.openxmlformats.org/officeDocument/2006/relationships/image" Target="../media/image31.png"/><Relationship Id="rId17" Type="http://schemas.openxmlformats.org/officeDocument/2006/relationships/image" Target="../media/image32.png"/><Relationship Id="rId18" Type="http://schemas.openxmlformats.org/officeDocument/2006/relationships/image" Target="../media/image33.png"/><Relationship Id="rId19" Type="http://schemas.openxmlformats.org/officeDocument/2006/relationships/image" Target="../media/image34.png"/><Relationship Id="rId20" Type="http://schemas.openxmlformats.org/officeDocument/2006/relationships/image" Target="../media/image3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Relationship Id="rId8" Type="http://schemas.openxmlformats.org/officeDocument/2006/relationships/image" Target="../media/image11.png"/><Relationship Id="rId9" Type="http://schemas.openxmlformats.org/officeDocument/2006/relationships/image" Target="../media/image4.png"/><Relationship Id="rId10" Type="http://schemas.openxmlformats.org/officeDocument/2006/relationships/image" Target="../media/image12.png"/><Relationship Id="rId11" Type="http://schemas.openxmlformats.org/officeDocument/2006/relationships/image" Target="../media/image42.png"/><Relationship Id="rId12" Type="http://schemas.openxmlformats.org/officeDocument/2006/relationships/image" Target="../media/image43.png"/><Relationship Id="rId13" Type="http://schemas.openxmlformats.org/officeDocument/2006/relationships/image" Target="../media/image44.png"/><Relationship Id="rId14" Type="http://schemas.openxmlformats.org/officeDocument/2006/relationships/image" Target="../media/image45.png"/><Relationship Id="rId15" Type="http://schemas.openxmlformats.org/officeDocument/2006/relationships/image" Target="../media/image46.png"/><Relationship Id="rId16" Type="http://schemas.openxmlformats.org/officeDocument/2006/relationships/image" Target="../media/image47.png"/><Relationship Id="rId17" Type="http://schemas.openxmlformats.org/officeDocument/2006/relationships/image" Target="../media/image48.png"/><Relationship Id="rId18" Type="http://schemas.openxmlformats.org/officeDocument/2006/relationships/image" Target="../media/image49.png"/><Relationship Id="rId19" Type="http://schemas.openxmlformats.org/officeDocument/2006/relationships/image" Target="../media/image50.png"/><Relationship Id="rId20" Type="http://schemas.openxmlformats.org/officeDocument/2006/relationships/image" Target="../media/image51.png"/><Relationship Id="rId21" Type="http://schemas.openxmlformats.org/officeDocument/2006/relationships/image" Target="../media/image52.png"/><Relationship Id="rId22" Type="http://schemas.openxmlformats.org/officeDocument/2006/relationships/image" Target="../media/image53.png"/><Relationship Id="rId23" Type="http://schemas.openxmlformats.org/officeDocument/2006/relationships/image" Target="../media/image5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Relationship Id="rId3" Type="http://schemas.openxmlformats.org/officeDocument/2006/relationships/image" Target="../media/image56.png"/><Relationship Id="rId4" Type="http://schemas.openxmlformats.org/officeDocument/2006/relationships/image" Target="../media/image11.png"/><Relationship Id="rId5" Type="http://schemas.openxmlformats.org/officeDocument/2006/relationships/image" Target="../media/image4.png"/><Relationship Id="rId6" Type="http://schemas.openxmlformats.org/officeDocument/2006/relationships/image" Target="../media/image12.png"/><Relationship Id="rId7" Type="http://schemas.openxmlformats.org/officeDocument/2006/relationships/image" Target="../media/image5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image" Target="../media/image59.png"/><Relationship Id="rId4" Type="http://schemas.openxmlformats.org/officeDocument/2006/relationships/image" Target="../media/image11.png"/><Relationship Id="rId5" Type="http://schemas.openxmlformats.org/officeDocument/2006/relationships/image" Target="../media/image4.png"/><Relationship Id="rId6" Type="http://schemas.openxmlformats.org/officeDocument/2006/relationships/image" Target="../media/image12.png"/><Relationship Id="rId7" Type="http://schemas.openxmlformats.org/officeDocument/2006/relationships/image" Target="../media/image60.png"/><Relationship Id="rId8" Type="http://schemas.openxmlformats.org/officeDocument/2006/relationships/image" Target="../media/image61.png"/><Relationship Id="rId9" Type="http://schemas.openxmlformats.org/officeDocument/2006/relationships/image" Target="../media/image62.png"/><Relationship Id="rId10" Type="http://schemas.openxmlformats.org/officeDocument/2006/relationships/image" Target="../media/image63.png"/><Relationship Id="rId11" Type="http://schemas.openxmlformats.org/officeDocument/2006/relationships/image" Target="../media/image6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png"/><Relationship Id="rId3" Type="http://schemas.openxmlformats.org/officeDocument/2006/relationships/image" Target="../media/image66.png"/><Relationship Id="rId4" Type="http://schemas.openxmlformats.org/officeDocument/2006/relationships/image" Target="../media/image11.png"/><Relationship Id="rId5" Type="http://schemas.openxmlformats.org/officeDocument/2006/relationships/image" Target="../media/image4.png"/><Relationship Id="rId6" Type="http://schemas.openxmlformats.org/officeDocument/2006/relationships/image" Target="../media/image12.png"/><Relationship Id="rId7" Type="http://schemas.openxmlformats.org/officeDocument/2006/relationships/image" Target="../media/image67.png"/><Relationship Id="rId8" Type="http://schemas.openxmlformats.org/officeDocument/2006/relationships/image" Target="../media/image68.png"/><Relationship Id="rId9" Type="http://schemas.openxmlformats.org/officeDocument/2006/relationships/image" Target="../media/image69.png"/><Relationship Id="rId10" Type="http://schemas.openxmlformats.org/officeDocument/2006/relationships/image" Target="../media/image70.png"/><Relationship Id="rId11" Type="http://schemas.openxmlformats.org/officeDocument/2006/relationships/image" Target="../media/image71.png"/><Relationship Id="rId12" Type="http://schemas.openxmlformats.org/officeDocument/2006/relationships/image" Target="../media/image7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png"/><Relationship Id="rId3" Type="http://schemas.openxmlformats.org/officeDocument/2006/relationships/image" Target="../media/image74.png"/><Relationship Id="rId4" Type="http://schemas.openxmlformats.org/officeDocument/2006/relationships/image" Target="../media/image11.png"/><Relationship Id="rId5" Type="http://schemas.openxmlformats.org/officeDocument/2006/relationships/image" Target="../media/image4.png"/><Relationship Id="rId6" Type="http://schemas.openxmlformats.org/officeDocument/2006/relationships/image" Target="../media/image12.png"/><Relationship Id="rId7" Type="http://schemas.openxmlformats.org/officeDocument/2006/relationships/image" Target="../media/image75.png"/><Relationship Id="rId8" Type="http://schemas.openxmlformats.org/officeDocument/2006/relationships/image" Target="../media/image76.png"/><Relationship Id="rId9" Type="http://schemas.openxmlformats.org/officeDocument/2006/relationships/image" Target="../media/image77.png"/><Relationship Id="rId10" Type="http://schemas.openxmlformats.org/officeDocument/2006/relationships/image" Target="../media/image78.png"/><Relationship Id="rId11" Type="http://schemas.openxmlformats.org/officeDocument/2006/relationships/image" Target="../media/image79.png"/><Relationship Id="rId12" Type="http://schemas.openxmlformats.org/officeDocument/2006/relationships/image" Target="../media/image8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1.png"/><Relationship Id="rId3" Type="http://schemas.openxmlformats.org/officeDocument/2006/relationships/image" Target="../media/image82.png"/><Relationship Id="rId4" Type="http://schemas.openxmlformats.org/officeDocument/2006/relationships/image" Target="../media/image83.png"/><Relationship Id="rId5" Type="http://schemas.openxmlformats.org/officeDocument/2006/relationships/image" Target="../media/image84.png"/><Relationship Id="rId6" Type="http://schemas.openxmlformats.org/officeDocument/2006/relationships/image" Target="../media/image85.png"/><Relationship Id="rId7" Type="http://schemas.openxmlformats.org/officeDocument/2006/relationships/image" Target="../media/image11.png"/><Relationship Id="rId8" Type="http://schemas.openxmlformats.org/officeDocument/2006/relationships/image" Target="../media/image4.png"/><Relationship Id="rId9" Type="http://schemas.openxmlformats.org/officeDocument/2006/relationships/image" Target="../media/image12.png"/><Relationship Id="rId10" Type="http://schemas.openxmlformats.org/officeDocument/2006/relationships/image" Target="../media/image86.png"/><Relationship Id="rId11" Type="http://schemas.openxmlformats.org/officeDocument/2006/relationships/image" Target="../media/image87.png"/><Relationship Id="rId12" Type="http://schemas.openxmlformats.org/officeDocument/2006/relationships/image" Target="../media/image6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8.png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12.png"/><Relationship Id="rId6" Type="http://schemas.openxmlformats.org/officeDocument/2006/relationships/image" Target="../media/image89.png"/><Relationship Id="rId7" Type="http://schemas.openxmlformats.org/officeDocument/2006/relationships/image" Target="../media/image9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238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0" y="457200"/>
            <a:ext cx="4191000" cy="2286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1671637"/>
            <a:ext cx="2952750" cy="4095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800850"/>
            <a:ext cx="12192000" cy="571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6750" y="3943350"/>
            <a:ext cx="10858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1E293B"/>
                </a:solidFill>
                <a:latin typeface="Inter SemiBold"/>
              </a:rPr>
              <a:t>Team Name :</a:t>
            </a:r>
            <a:r>
              <a:rPr b="0" sz="1500" i="0" u="none">
                <a:solidFill>
                  <a:srgbClr val="0F172A"/>
                </a:solidFill>
                <a:latin typeface="Inter"/>
              </a:rPr>
              <a:t> </a:t>
            </a:r>
            <a:r>
              <a:rPr b="0" sz="1500" i="0" u="none">
                <a:solidFill>
                  <a:srgbClr val="334155"/>
                </a:solidFill>
                <a:latin typeface="Inter Medium"/>
              </a:rPr>
              <a:t>Data Unifiers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50" y="4381500"/>
            <a:ext cx="10858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1E293B"/>
                </a:solidFill>
                <a:latin typeface="Inter SemiBold"/>
              </a:rPr>
              <a:t>Team Leader Name :</a:t>
            </a:r>
            <a:r>
              <a:rPr b="0" sz="1500" i="0" u="none">
                <a:solidFill>
                  <a:srgbClr val="0F172A"/>
                </a:solidFill>
                <a:latin typeface="Inter"/>
              </a:rPr>
              <a:t> </a:t>
            </a:r>
            <a:r>
              <a:rPr b="0" sz="1500" i="0" u="none">
                <a:solidFill>
                  <a:srgbClr val="334155"/>
                </a:solidFill>
                <a:latin typeface="Inter Medium"/>
              </a:rPr>
              <a:t>Anil Kumar Yelleti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50" y="4819650"/>
            <a:ext cx="10858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1E293B"/>
                </a:solidFill>
                <a:latin typeface="Inter SemiBold"/>
              </a:rPr>
              <a:t>Team Size :</a:t>
            </a:r>
            <a:r>
              <a:rPr b="0" sz="1500" i="0" u="none">
                <a:solidFill>
                  <a:srgbClr val="0F172A"/>
                </a:solidFill>
                <a:latin typeface="Inter"/>
              </a:rPr>
              <a:t> </a:t>
            </a:r>
            <a:r>
              <a:rPr b="0" sz="1500" i="0" u="none">
                <a:solidFill>
                  <a:srgbClr val="334155"/>
                </a:solidFill>
                <a:latin typeface="Inter Medium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750" y="5257800"/>
            <a:ext cx="108585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1E293B"/>
                </a:solidFill>
                <a:latin typeface="Inter SemiBold"/>
              </a:rPr>
              <a:t>Problem Statement :</a:t>
            </a:r>
            <a:r>
              <a:rPr b="0" sz="1500" i="0" u="none">
                <a:solidFill>
                  <a:srgbClr val="0F172A"/>
                </a:solidFill>
                <a:latin typeface="Inter"/>
              </a:rPr>
              <a:t> </a:t>
            </a:r>
            <a:r>
              <a:rPr b="0" sz="1500" i="0" u="none">
                <a:solidFill>
                  <a:srgbClr val="334155"/>
                </a:solidFill>
                <a:latin typeface="Inter Medium"/>
              </a:rPr>
              <a:t>Customer360 AI — AI-Powered Customer Intelligence &amp; Next Best Action for Insurance: Unifying structured &amp; unstructured data with Snowflake Cortex to analyze sentiment, explain churn risk, and deliver personalized retention actions.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566737"/>
            <a:ext cx="39814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FFFFFF"/>
                </a:solidFill>
                <a:latin typeface="Poppins"/>
              </a:rPr>
              <a:t>YOURSTORY</a:t>
            </a:r>
            <a:r>
              <a:rPr b="1" sz="1500" i="0" u="none">
                <a:solidFill>
                  <a:srgbClr val="FFFFFF"/>
                </a:solidFill>
                <a:latin typeface="Poppins"/>
              </a:rPr>
              <a:t> </a:t>
            </a:r>
            <a:r>
              <a:rPr b="1" sz="1500" i="0" u="none">
                <a:solidFill>
                  <a:srgbClr val="475569"/>
                </a:solidFill>
                <a:latin typeface="Poppins"/>
              </a:rPr>
              <a:t>|</a:t>
            </a:r>
            <a:r>
              <a:rPr b="1" sz="1500" i="0" u="none">
                <a:solidFill>
                  <a:srgbClr val="FFFFFF"/>
                </a:solidFill>
                <a:latin typeface="Poppins"/>
              </a:rPr>
              <a:t> </a:t>
            </a:r>
            <a:r>
              <a:rPr b="1" sz="1500" i="0" u="none">
                <a:solidFill>
                  <a:srgbClr val="38BDF8"/>
                </a:solidFill>
                <a:latin typeface="Poppins"/>
              </a:rPr>
              <a:t>snowflake</a:t>
            </a:r>
            <a:r>
              <a:rPr b="1" sz="1500" i="0" u="none">
                <a:solidFill>
                  <a:srgbClr val="FFFFFF"/>
                </a:solidFill>
                <a:latin typeface="Poppins"/>
              </a:rPr>
              <a:t> </a:t>
            </a:r>
            <a:r>
              <a:rPr b="1" sz="1500" i="0" u="none">
                <a:solidFill>
                  <a:srgbClr val="475569"/>
                </a:solidFill>
                <a:latin typeface="Poppins"/>
              </a:rPr>
              <a:t>|</a:t>
            </a:r>
            <a:r>
              <a:rPr b="1" sz="1500" i="0" u="none">
                <a:solidFill>
                  <a:srgbClr val="FFFFFF"/>
                </a:solidFill>
                <a:latin typeface="Poppins"/>
              </a:rPr>
              <a:t> </a:t>
            </a:r>
            <a:r>
              <a:rPr b="1" sz="1500" i="0" u="none">
                <a:solidFill>
                  <a:srgbClr val="FFFFFF"/>
                </a:solidFill>
                <a:latin typeface="Poppins"/>
              </a:rPr>
              <a:t>H2S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9025" y="466725"/>
            <a:ext cx="4171950" cy="22669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438275"/>
            <a:ext cx="800100" cy="8001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600200" y="1042987"/>
            <a:ext cx="29527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b="0" sz="4500" i="0" u="none">
                <a:solidFill>
                  <a:srgbClr val="38BDF8"/>
                </a:solidFill>
                <a:latin typeface="Poppins ExtraBold"/>
              </a:rPr>
              <a:t>CoCo CLI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2195512"/>
            <a:ext cx="29527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250" i="0" u="none">
                <a:solidFill>
                  <a:srgbClr val="FFFFFF"/>
                </a:solidFill>
                <a:latin typeface="Poppins SemiBold"/>
              </a:rPr>
              <a:t>GCC Edition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24000"/>
            <a:ext cx="11277600" cy="708421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422921"/>
            <a:ext cx="5524500" cy="153471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300" y="2422921"/>
            <a:ext cx="5524500" cy="153471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186237"/>
            <a:ext cx="5524500" cy="153471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4186237"/>
            <a:ext cx="5524500" cy="153471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09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6800850"/>
            <a:ext cx="12192000" cy="571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838200"/>
            <a:ext cx="1173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oppins"/>
              </a:rPr>
              <a:t>Problem Brief &amp; Pain Points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4800" y="171450"/>
            <a:ext cx="2905125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Poppins"/>
              </a:rPr>
              <a:t>YOURSTORY</a:t>
            </a:r>
            <a:r>
              <a:rPr b="1" sz="1200" i="0" u="none">
                <a:solidFill>
                  <a:srgbClr val="FFFFFF"/>
                </a:solidFill>
                <a:latin typeface="Poppins"/>
              </a:rPr>
              <a:t> </a:t>
            </a:r>
            <a:r>
              <a:rPr b="0" sz="1200" i="0" u="none">
                <a:solidFill>
                  <a:srgbClr val="475569"/>
                </a:solidFill>
                <a:latin typeface="Poppins Light"/>
              </a:rPr>
              <a:t>|</a:t>
            </a:r>
            <a:r>
              <a:rPr b="1" sz="1200" i="0" u="none">
                <a:solidFill>
                  <a:srgbClr val="FFFFFF"/>
                </a:solidFill>
                <a:latin typeface="Poppins"/>
              </a:rPr>
              <a:t> </a:t>
            </a:r>
            <a:r>
              <a:rPr b="1" sz="1200" i="0" u="none">
                <a:solidFill>
                  <a:srgbClr val="00A4E4"/>
                </a:solidFill>
                <a:latin typeface="Poppins"/>
              </a:rPr>
              <a:t>snowflake</a:t>
            </a:r>
            <a:r>
              <a:rPr b="1" sz="1200" i="0" u="none">
                <a:solidFill>
                  <a:srgbClr val="FFFFFF"/>
                </a:solidFill>
                <a:latin typeface="Poppins"/>
              </a:rPr>
              <a:t> </a:t>
            </a:r>
            <a:r>
              <a:rPr b="0" sz="1200" i="0" u="none">
                <a:solidFill>
                  <a:srgbClr val="475569"/>
                </a:solidFill>
                <a:latin typeface="Poppins Light"/>
              </a:rPr>
              <a:t>|</a:t>
            </a:r>
            <a:r>
              <a:rPr b="1" sz="1200" i="0" u="none">
                <a:solidFill>
                  <a:srgbClr val="FFFFFF"/>
                </a:solidFill>
                <a:latin typeface="Poppins"/>
              </a:rPr>
              <a:t> </a:t>
            </a:r>
            <a:r>
              <a:rPr b="1" sz="1200" i="0" u="none">
                <a:solidFill>
                  <a:srgbClr val="FFFFFF"/>
                </a:solidFill>
                <a:latin typeface="Poppins"/>
              </a:rPr>
              <a:t>H2S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15425" y="152400"/>
            <a:ext cx="2771775" cy="2762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200" i="0" u="none">
                <a:solidFill>
                  <a:srgbClr val="94A3B8"/>
                </a:solidFill>
                <a:latin typeface="Inter SemiBold"/>
              </a:rPr>
              <a:t>GCC Edition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15425" y="152400"/>
            <a:ext cx="1895475" cy="2762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502" y="1685925"/>
            <a:ext cx="144809" cy="152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446091" y="1657350"/>
            <a:ext cx="2508944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39"/>
              </a:lnSpc>
            </a:pPr>
            <a:r>
              <a:rPr b="1" sz="1200" i="0" u="none">
                <a:solidFill>
                  <a:srgbClr val="7DD3FC"/>
                </a:solidFill>
                <a:latin typeface="Poppins"/>
              </a:rPr>
              <a:t>fragmented customer signals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91425" y="1657350"/>
            <a:ext cx="2356544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39"/>
              </a:lnSpc>
            </a:pPr>
            <a:r>
              <a:rPr b="1" sz="1200" i="0" u="none">
                <a:solidFill>
                  <a:srgbClr val="7DD3FC"/>
                </a:solidFill>
                <a:latin typeface="Poppins"/>
              </a:rPr>
              <a:t>explainable risk assessment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70165" y="1657350"/>
            <a:ext cx="6136183" cy="4399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39"/>
              </a:lnSpc>
            </a:pPr>
            <a:r>
              <a:rPr b="1" sz="1200" i="0" u="none">
                <a:solidFill>
                  <a:srgbClr val="7DD3FC"/>
                </a:solidFill>
                <a:latin typeface="Poppins"/>
              </a:rPr>
              <a:t>actionable next-best action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8175" y="2603896"/>
            <a:ext cx="381000" cy="381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38175" y="3099196"/>
            <a:ext cx="5420677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oppins"/>
              </a:rPr>
              <a:t>Siloed Touchpoints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175" y="3403996"/>
            <a:ext cx="5162550" cy="3726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b="0" sz="1012" i="0" u="none">
                <a:solidFill>
                  <a:srgbClr val="475569"/>
                </a:solidFill>
                <a:latin typeface="Inter"/>
              </a:rPr>
              <a:t>Insurers struggle with customer data fragmented across policy admin, claims, billing logs, and unstructured call transcripts with no unified health view.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91275" y="2603896"/>
            <a:ext cx="381000" cy="381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91275" y="3099196"/>
            <a:ext cx="5420677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oppins"/>
              </a:rPr>
              <a:t>Reactive Churn Prevention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1275" y="3403996"/>
            <a:ext cx="5162550" cy="3726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b="0" sz="1012" i="0" u="none">
                <a:solidFill>
                  <a:srgbClr val="475569"/>
                </a:solidFill>
                <a:latin typeface="Inter"/>
              </a:rPr>
              <a:t>Retention teams react to customer cancellation </a:t>
            </a:r>
            <a:r>
              <a:rPr b="1" sz="1012" i="0" u="none">
                <a:solidFill>
                  <a:srgbClr val="475569"/>
                </a:solidFill>
                <a:latin typeface="Inter"/>
              </a:rPr>
              <a:t>after</a:t>
            </a:r>
            <a:r>
              <a:rPr b="0" sz="1012" i="0" u="none">
                <a:solidFill>
                  <a:srgbClr val="475569"/>
                </a:solidFill>
                <a:latin typeface="Inter"/>
              </a:rPr>
              <a:t> it occurs, missing critical early-warning indicators trapped inside interaction sentiment.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8175" y="4367212"/>
            <a:ext cx="381000" cy="381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38175" y="4862512"/>
            <a:ext cx="5420677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oppins"/>
              </a:rPr>
              <a:t>Black-Box Risk Models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175" y="5167312"/>
            <a:ext cx="5162550" cy="3726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b="0" sz="1012" i="0" u="none">
                <a:solidFill>
                  <a:srgbClr val="475569"/>
                </a:solidFill>
                <a:latin typeface="Inter"/>
              </a:rPr>
              <a:t>Relationship managers lack transparent, explainable churn scores. They need clear evidence backing </a:t>
            </a:r>
            <a:r>
              <a:rPr b="0" sz="1012" i="1" u="none">
                <a:solidFill>
                  <a:srgbClr val="475569"/>
                </a:solidFill>
                <a:latin typeface="Inter"/>
              </a:rPr>
              <a:t>why</a:t>
            </a:r>
            <a:r>
              <a:rPr b="0" sz="1012" i="0" u="none">
                <a:solidFill>
                  <a:srgbClr val="475569"/>
                </a:solidFill>
                <a:latin typeface="Inter"/>
              </a:rPr>
              <a:t> a customer is at risk rather than an arbitrary score.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91275" y="4367212"/>
            <a:ext cx="381000" cy="381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391275" y="4862512"/>
            <a:ext cx="5420677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oppins"/>
              </a:rPr>
              <a:t>Target Persona &amp; Impact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91275" y="5167312"/>
            <a:ext cx="5162550" cy="3726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b="0" sz="1012" i="0" u="none">
                <a:solidFill>
                  <a:srgbClr val="475569"/>
                </a:solidFill>
                <a:latin typeface="Inter"/>
              </a:rPr>
              <a:t>Built for </a:t>
            </a:r>
            <a:r>
              <a:rPr b="1" sz="1012" i="0" u="none">
                <a:solidFill>
                  <a:srgbClr val="475569"/>
                </a:solidFill>
                <a:latin typeface="Inter"/>
              </a:rPr>
              <a:t>Relationship Managers, Retention Leads, &amp; Support Supervisors</a:t>
            </a:r>
            <a:r>
              <a:rPr b="0" sz="1012" i="0" u="none">
                <a:solidFill>
                  <a:srgbClr val="475569"/>
                </a:solidFill>
                <a:latin typeface="Inter"/>
              </a:rPr>
              <a:t> to convert multi-channel data into instant, AI-guided Next Best Actions.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3425" y="2708671"/>
            <a:ext cx="190500" cy="17145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72237" y="2708671"/>
            <a:ext cx="219075" cy="17145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2950" y="4471987"/>
            <a:ext cx="171450" cy="17145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72237" y="4471987"/>
            <a:ext cx="219075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24000"/>
            <a:ext cx="2034480" cy="640556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7905" y="1524000"/>
            <a:ext cx="2034480" cy="64055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8610" y="1524000"/>
            <a:ext cx="2034480" cy="64055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9316" y="1524000"/>
            <a:ext cx="2034480" cy="64055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0021" y="1524000"/>
            <a:ext cx="2034480" cy="640556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355056"/>
            <a:ext cx="2133600" cy="1345406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3200" y="2355056"/>
            <a:ext cx="2133600" cy="1345406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0" y="2355056"/>
            <a:ext cx="2133600" cy="1345406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5200" y="2355056"/>
            <a:ext cx="2133600" cy="1345406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01200" y="2355056"/>
            <a:ext cx="2133600" cy="1345406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0"/>
            <a:ext cx="12192000" cy="6096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6800850"/>
            <a:ext cx="12192000" cy="571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7200" y="838200"/>
            <a:ext cx="1173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oppins"/>
              </a:rPr>
              <a:t>Solution Architecture &amp; Core Modules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4800" y="171450"/>
            <a:ext cx="2905125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Poppins"/>
              </a:rPr>
              <a:t>YOURSTORY</a:t>
            </a:r>
            <a:r>
              <a:rPr b="1" sz="1200" i="0" u="none">
                <a:solidFill>
                  <a:srgbClr val="FFFFFF"/>
                </a:solidFill>
                <a:latin typeface="Poppins"/>
              </a:rPr>
              <a:t> </a:t>
            </a:r>
            <a:r>
              <a:rPr b="0" sz="1200" i="0" u="none">
                <a:solidFill>
                  <a:srgbClr val="475569"/>
                </a:solidFill>
                <a:latin typeface="Poppins Light"/>
              </a:rPr>
              <a:t>|</a:t>
            </a:r>
            <a:r>
              <a:rPr b="1" sz="1200" i="0" u="none">
                <a:solidFill>
                  <a:srgbClr val="FFFFFF"/>
                </a:solidFill>
                <a:latin typeface="Poppins"/>
              </a:rPr>
              <a:t> </a:t>
            </a:r>
            <a:r>
              <a:rPr b="1" sz="1200" i="0" u="none">
                <a:solidFill>
                  <a:srgbClr val="00A4E4"/>
                </a:solidFill>
                <a:latin typeface="Poppins"/>
              </a:rPr>
              <a:t>snowflake</a:t>
            </a:r>
            <a:r>
              <a:rPr b="1" sz="1200" i="0" u="none">
                <a:solidFill>
                  <a:srgbClr val="FFFFFF"/>
                </a:solidFill>
                <a:latin typeface="Poppins"/>
              </a:rPr>
              <a:t> </a:t>
            </a:r>
            <a:r>
              <a:rPr b="0" sz="1200" i="0" u="none">
                <a:solidFill>
                  <a:srgbClr val="475569"/>
                </a:solidFill>
                <a:latin typeface="Poppins Light"/>
              </a:rPr>
              <a:t>|</a:t>
            </a:r>
            <a:r>
              <a:rPr b="1" sz="1200" i="0" u="none">
                <a:solidFill>
                  <a:srgbClr val="FFFFFF"/>
                </a:solidFill>
                <a:latin typeface="Poppins"/>
              </a:rPr>
              <a:t> </a:t>
            </a:r>
            <a:r>
              <a:rPr b="1" sz="1200" i="0" u="none">
                <a:solidFill>
                  <a:srgbClr val="FFFFFF"/>
                </a:solidFill>
                <a:latin typeface="Poppins"/>
              </a:rPr>
              <a:t>H2S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15425" y="152400"/>
            <a:ext cx="2771775" cy="2762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200" i="0" u="none">
                <a:solidFill>
                  <a:srgbClr val="94A3B8"/>
                </a:solidFill>
                <a:latin typeface="Inter SemiBold"/>
              </a:rPr>
              <a:t>GCC Edition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15425" y="152400"/>
            <a:ext cx="1895475" cy="2762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586930" y="1772840"/>
            <a:ext cx="85725" cy="1428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97635" y="1772840"/>
            <a:ext cx="85725" cy="1428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08341" y="1772840"/>
            <a:ext cx="85725" cy="1428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519046" y="1772840"/>
            <a:ext cx="85725" cy="14287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204406" y="1647825"/>
            <a:ext cx="540067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FFFFFF"/>
                </a:solidFill>
                <a:latin typeface="Poppins"/>
              </a:rPr>
              <a:t>1. UNIFY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7715" y="1876425"/>
            <a:ext cx="933450" cy="1643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93"/>
              </a:lnSpc>
            </a:pPr>
            <a:r>
              <a:rPr b="0" sz="862" i="0" u="none">
                <a:solidFill>
                  <a:srgbClr val="FFFFFF"/>
                </a:solidFill>
                <a:latin typeface="Inter"/>
              </a:rPr>
              <a:t>Data + Transcripts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5073" y="1647825"/>
            <a:ext cx="116014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FFFFFF"/>
                </a:solidFill>
                <a:latin typeface="Poppins"/>
              </a:rPr>
              <a:t>2. UNDERSTAND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2708" y="1876425"/>
            <a:ext cx="904875" cy="1643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93"/>
              </a:lnSpc>
            </a:pPr>
            <a:r>
              <a:rPr b="0" sz="862" i="0" u="none">
                <a:solidFill>
                  <a:srgbClr val="FFFFFF"/>
                </a:solidFill>
                <a:latin typeface="Inter"/>
              </a:rPr>
              <a:t>Cortex Sentiment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05802" y="1647825"/>
            <a:ext cx="780097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FFFFFF"/>
                </a:solidFill>
                <a:latin typeface="Poppins"/>
              </a:rPr>
              <a:t>3. PREDICT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3876" y="1876425"/>
            <a:ext cx="1123950" cy="1643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93"/>
              </a:lnSpc>
            </a:pPr>
            <a:r>
              <a:rPr b="0" sz="862" i="0" u="none">
                <a:solidFill>
                  <a:srgbClr val="FFFFFF"/>
                </a:solidFill>
                <a:latin typeface="Inter"/>
              </a:rPr>
              <a:t>9-Signal Churn Model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41486" y="1647825"/>
            <a:ext cx="1130141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FFFFFF"/>
                </a:solidFill>
                <a:latin typeface="Poppins"/>
              </a:rPr>
              <a:t>4. RECOMMEND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63644" y="1876425"/>
            <a:ext cx="885825" cy="1643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93"/>
              </a:lnSpc>
            </a:pPr>
            <a:r>
              <a:rPr b="0" sz="862" i="0" u="none">
                <a:solidFill>
                  <a:srgbClr val="FFFFFF"/>
                </a:solidFill>
                <a:latin typeface="Inter"/>
              </a:rPr>
              <a:t>Next Best Action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82232" y="1647825"/>
            <a:ext cx="470058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FFFFFF"/>
                </a:solidFill>
                <a:latin typeface="Poppins"/>
              </a:rPr>
              <a:t>5. ACT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26712" y="1876425"/>
            <a:ext cx="1181100" cy="1643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93"/>
              </a:lnSpc>
            </a:pPr>
            <a:r>
              <a:rPr b="0" sz="862" i="0" u="none">
                <a:solidFill>
                  <a:srgbClr val="FFFFFF"/>
                </a:solidFill>
                <a:latin typeface="Inter"/>
              </a:rPr>
              <a:t>Personalized Outreach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0075" y="2497931"/>
            <a:ext cx="323850" cy="32385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00075" y="2936081"/>
            <a:ext cx="1940242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oppins"/>
              </a:rPr>
              <a:t>Executive Dashboard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0075" y="3212306"/>
            <a:ext cx="1847850" cy="345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0" sz="937" i="0" u="none">
                <a:solidFill>
                  <a:srgbClr val="475569"/>
                </a:solidFill>
                <a:latin typeface="Inter"/>
              </a:rPr>
              <a:t>Portfolio KPIs, AI Executive Insights, priority work queues.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886075" y="2497931"/>
            <a:ext cx="323850" cy="32385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2886075" y="2936081"/>
            <a:ext cx="1940242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oppins"/>
              </a:rPr>
              <a:t>Customer 360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86075" y="3212306"/>
            <a:ext cx="1847850" cy="345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0" sz="937" i="0" u="none">
                <a:solidFill>
                  <a:srgbClr val="475569"/>
                </a:solidFill>
                <a:latin typeface="Inter"/>
              </a:rPr>
              <a:t>Explainable risk drivers, NBA recommendation, timeline.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172075" y="2497931"/>
            <a:ext cx="323850" cy="32385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172075" y="2936081"/>
            <a:ext cx="1940242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oppins"/>
              </a:rPr>
              <a:t>Ask Customer 360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72075" y="3212306"/>
            <a:ext cx="1847850" cy="345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0" sz="937" i="0" u="none">
                <a:solidFill>
                  <a:srgbClr val="475569"/>
                </a:solidFill>
                <a:latin typeface="Inter"/>
              </a:rPr>
              <a:t>Natural language Q&amp;A backed by Cortex COMPLETE.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58075" y="2497931"/>
            <a:ext cx="323850" cy="32385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7458075" y="2936081"/>
            <a:ext cx="1940242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oppins"/>
              </a:rPr>
              <a:t>Action Center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58075" y="3212306"/>
            <a:ext cx="1847850" cy="345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0" sz="937" i="0" u="none">
                <a:solidFill>
                  <a:srgbClr val="475569"/>
                </a:solidFill>
                <a:latin typeface="Inter"/>
              </a:rPr>
              <a:t>Operational queue filterable by risk, segment &amp; trigger.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744075" y="2497931"/>
            <a:ext cx="323850" cy="32385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9744075" y="2936081"/>
            <a:ext cx="1940242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oppins"/>
              </a:rPr>
              <a:t>Analytics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44075" y="3212306"/>
            <a:ext cx="1847850" cy="345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0" sz="937" i="0" u="none">
                <a:solidFill>
                  <a:srgbClr val="475569"/>
                </a:solidFill>
                <a:latin typeface="Inter"/>
              </a:rPr>
              <a:t>Segment risk breakdown, sentiment trends &amp; distribution.</a:t>
            </a: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5800" y="2583656"/>
            <a:ext cx="152400" cy="152400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962275" y="2583656"/>
            <a:ext cx="171450" cy="152400"/>
          </a:xfrm>
          <a:prstGeom prst="rect">
            <a:avLst/>
          </a:prstGeom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238750" y="2583656"/>
            <a:ext cx="190500" cy="152400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543800" y="2583656"/>
            <a:ext cx="152400" cy="152400"/>
          </a:xfrm>
          <a:prstGeom prst="rect">
            <a:avLst/>
          </a:prstGeom>
        </p:spPr>
      </p:pic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820275" y="2583656"/>
            <a:ext cx="17145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24000"/>
            <a:ext cx="11277600" cy="23241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1714500"/>
            <a:ext cx="10896600" cy="4953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" y="3295650"/>
            <a:ext cx="10896600" cy="3619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700" y="2657475"/>
            <a:ext cx="3555950" cy="5048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7950" y="2657475"/>
            <a:ext cx="3555950" cy="5048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88200" y="2657475"/>
            <a:ext cx="3556099" cy="5048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2000" cy="609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6800850"/>
            <a:ext cx="12192000" cy="571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838200"/>
            <a:ext cx="1173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oppins"/>
              </a:rPr>
              <a:t>Architecture &amp; Snowflake Cortex Stack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4800" y="171450"/>
            <a:ext cx="2905125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Poppins"/>
              </a:rPr>
              <a:t>YOURSTORY</a:t>
            </a:r>
            <a:r>
              <a:rPr b="1" sz="1200" i="0" u="none">
                <a:solidFill>
                  <a:srgbClr val="FFFFFF"/>
                </a:solidFill>
                <a:latin typeface="Poppins"/>
              </a:rPr>
              <a:t> </a:t>
            </a:r>
            <a:r>
              <a:rPr b="0" sz="1200" i="0" u="none">
                <a:solidFill>
                  <a:srgbClr val="475569"/>
                </a:solidFill>
                <a:latin typeface="Poppins Light"/>
              </a:rPr>
              <a:t>|</a:t>
            </a:r>
            <a:r>
              <a:rPr b="1" sz="1200" i="0" u="none">
                <a:solidFill>
                  <a:srgbClr val="FFFFFF"/>
                </a:solidFill>
                <a:latin typeface="Poppins"/>
              </a:rPr>
              <a:t> </a:t>
            </a:r>
            <a:r>
              <a:rPr b="1" sz="1200" i="0" u="none">
                <a:solidFill>
                  <a:srgbClr val="00A4E4"/>
                </a:solidFill>
                <a:latin typeface="Poppins"/>
              </a:rPr>
              <a:t>snowflake</a:t>
            </a:r>
            <a:r>
              <a:rPr b="1" sz="1200" i="0" u="none">
                <a:solidFill>
                  <a:srgbClr val="FFFFFF"/>
                </a:solidFill>
                <a:latin typeface="Poppins"/>
              </a:rPr>
              <a:t> </a:t>
            </a:r>
            <a:r>
              <a:rPr b="0" sz="1200" i="0" u="none">
                <a:solidFill>
                  <a:srgbClr val="475569"/>
                </a:solidFill>
                <a:latin typeface="Poppins Light"/>
              </a:rPr>
              <a:t>|</a:t>
            </a:r>
            <a:r>
              <a:rPr b="1" sz="1200" i="0" u="none">
                <a:solidFill>
                  <a:srgbClr val="FFFFFF"/>
                </a:solidFill>
                <a:latin typeface="Poppins"/>
              </a:rPr>
              <a:t> </a:t>
            </a:r>
            <a:r>
              <a:rPr b="1" sz="1200" i="0" u="none">
                <a:solidFill>
                  <a:srgbClr val="FFFFFF"/>
                </a:solidFill>
                <a:latin typeface="Poppins"/>
              </a:rPr>
              <a:t>H2S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15425" y="152400"/>
            <a:ext cx="2771775" cy="2762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200" i="0" u="none">
                <a:solidFill>
                  <a:srgbClr val="94A3B8"/>
                </a:solidFill>
                <a:latin typeface="Inter SemiBold"/>
              </a:rPr>
              <a:t>GCC Edition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15425" y="152400"/>
            <a:ext cx="1895475" cy="2762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7700" y="2343150"/>
            <a:ext cx="10896600" cy="180975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38BDF8"/>
                </a:solidFill>
                <a:latin typeface="Inter"/>
              </a:rPr>
              <a:t>Intelligence Layer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" y="3962400"/>
            <a:ext cx="1438275" cy="2190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71675" y="3962400"/>
            <a:ext cx="2181225" cy="2190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229100" y="3962400"/>
            <a:ext cx="1409700" cy="2190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15000" y="3962400"/>
            <a:ext cx="1447800" cy="2190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239000" y="3962400"/>
            <a:ext cx="1457325" cy="2190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772525" y="3962400"/>
            <a:ext cx="1695450" cy="2190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744075" y="1852612"/>
            <a:ext cx="1628775" cy="2190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419725" y="2362200"/>
            <a:ext cx="104775" cy="14287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28675" y="3400425"/>
            <a:ext cx="5372100" cy="152400"/>
          </a:xfrm>
          <a:prstGeom prst="rect">
            <a:avLst/>
          </a:prstGeom>
          <a:noFill/>
        </p:spPr>
        <p:txBody>
          <a:bodyPr wrap="square" lIns="114300" rIns="0" tIns="0" bIns="0" anchor="t">
            <a:spAutoFit/>
          </a:bodyPr>
          <a:lstStyle/>
          <a:p>
            <a:pPr algn="l"/>
            <a:r>
              <a:rPr b="1" sz="1012" i="0" u="none">
                <a:solidFill>
                  <a:srgbClr val="FFFFFF"/>
                </a:solidFill>
                <a:latin typeface="Inter"/>
              </a:rPr>
              <a:t>Snowflake Data Cloud: 5 Source Tables + 3 Dynamic Tables (10-min auto-refresh)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150" y="1809750"/>
            <a:ext cx="3419475" cy="161925"/>
          </a:xfrm>
          <a:prstGeom prst="rect">
            <a:avLst/>
          </a:prstGeom>
          <a:noFill/>
        </p:spPr>
        <p:txBody>
          <a:bodyPr wrap="square" lIns="152400" rIns="0" tIns="0" bIns="0" anchor="t">
            <a:spAutoFit/>
          </a:bodyPr>
          <a:lstStyle/>
          <a:p>
            <a:pPr algn="l"/>
            <a:r>
              <a:rPr b="1" sz="1087" i="0" u="none">
                <a:solidFill>
                  <a:srgbClr val="FFFFFF"/>
                </a:solidFill>
                <a:latin typeface="Inter"/>
              </a:rPr>
              <a:t>Streamlit Application Layer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150" y="1971675"/>
            <a:ext cx="34194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37" i="0" u="none">
                <a:solidFill>
                  <a:srgbClr val="E0F2FE"/>
                </a:solidFill>
                <a:latin typeface="Inter"/>
              </a:rPr>
              <a:t>Interactive UI: Dashboard, 360 View, NL Q&amp;A, Action Center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675" y="2762250"/>
            <a:ext cx="1447800" cy="152400"/>
          </a:xfrm>
          <a:prstGeom prst="rect">
            <a:avLst/>
          </a:prstGeom>
          <a:noFill/>
        </p:spPr>
        <p:txBody>
          <a:bodyPr wrap="square" lIns="133350" rIns="0" tIns="0" bIns="0" anchor="t">
            <a:spAutoFit/>
          </a:bodyPr>
          <a:lstStyle/>
          <a:p>
            <a:pPr algn="l"/>
            <a:r>
              <a:rPr b="1" sz="1012" i="0" u="none">
                <a:solidFill>
                  <a:srgbClr val="FFFFFF"/>
                </a:solidFill>
                <a:latin typeface="Inter"/>
              </a:rPr>
              <a:t>CORTEX.COMPLETE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675" y="2914650"/>
            <a:ext cx="22383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37" i="0" u="none">
                <a:solidFill>
                  <a:srgbClr val="94A3B8"/>
                </a:solidFill>
                <a:latin typeface="Inter"/>
              </a:rPr>
              <a:t>llama3.1-70b: Summaries, Q&amp;A, Scripts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98925" y="2762250"/>
            <a:ext cx="1504950" cy="152400"/>
          </a:xfrm>
          <a:prstGeom prst="rect">
            <a:avLst/>
          </a:prstGeom>
          <a:noFill/>
        </p:spPr>
        <p:txBody>
          <a:bodyPr wrap="square" lIns="133350" rIns="0" tIns="0" bIns="0" anchor="t">
            <a:spAutoFit/>
          </a:bodyPr>
          <a:lstStyle/>
          <a:p>
            <a:pPr algn="l"/>
            <a:r>
              <a:rPr b="1" sz="1012" i="0" u="none">
                <a:solidFill>
                  <a:srgbClr val="FFFFFF"/>
                </a:solidFill>
                <a:latin typeface="Inter"/>
              </a:rPr>
              <a:t>CORTEX.COMPLETE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98925" y="2914650"/>
            <a:ext cx="18669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37" i="0" u="none">
                <a:solidFill>
                  <a:srgbClr val="94A3B8"/>
                </a:solidFill>
                <a:latin typeface="Inter"/>
              </a:rPr>
              <a:t>FN_TRANSCRIPT_INTELLIGENCE + FN_ASK_CUSTOMER_360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69175" y="2762250"/>
            <a:ext cx="1533525" cy="152400"/>
          </a:xfrm>
          <a:prstGeom prst="rect">
            <a:avLst/>
          </a:prstGeom>
          <a:noFill/>
        </p:spPr>
        <p:txBody>
          <a:bodyPr wrap="square" lIns="114300" rIns="0" tIns="0" bIns="0" anchor="t">
            <a:spAutoFit/>
          </a:bodyPr>
          <a:lstStyle/>
          <a:p>
            <a:pPr algn="l"/>
            <a:r>
              <a:rPr b="1" sz="1012" i="0" u="none">
                <a:solidFill>
                  <a:srgbClr val="FFFFFF"/>
                </a:solidFill>
                <a:latin typeface="Inter"/>
              </a:rPr>
              <a:t>CORTEX.COMPLETE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69175" y="2914650"/>
            <a:ext cx="20478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37" i="0" u="none">
                <a:solidFill>
                  <a:srgbClr val="94A3B8"/>
                </a:solidFill>
                <a:latin typeface="Inter"/>
              </a:rPr>
              <a:t>FN_CUSTOMER_AI_SUMMARY + FN_GENERATE_COMMUNICATION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28675" y="3419475"/>
            <a:ext cx="114300" cy="128587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19150" y="1828800"/>
            <a:ext cx="152400" cy="138112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28675" y="2781300"/>
            <a:ext cx="133350" cy="128587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498925" y="2781300"/>
            <a:ext cx="133350" cy="128587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169175" y="2781300"/>
            <a:ext cx="114300" cy="12858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24000"/>
            <a:ext cx="11277600" cy="2402681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098131"/>
            <a:ext cx="11277600" cy="6334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09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800850"/>
            <a:ext cx="12192000" cy="571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838200"/>
            <a:ext cx="1173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oppins"/>
              </a:rPr>
              <a:t>Comprehensive Data Model &amp; Schema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4800" y="171450"/>
            <a:ext cx="2905125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Poppins"/>
              </a:rPr>
              <a:t>YOURSTORY</a:t>
            </a:r>
            <a:r>
              <a:rPr b="1" sz="1200" i="0" u="none">
                <a:solidFill>
                  <a:srgbClr val="FFFFFF"/>
                </a:solidFill>
                <a:latin typeface="Poppins"/>
              </a:rPr>
              <a:t> </a:t>
            </a:r>
            <a:r>
              <a:rPr b="0" sz="1200" i="0" u="none">
                <a:solidFill>
                  <a:srgbClr val="475569"/>
                </a:solidFill>
                <a:latin typeface="Poppins Light"/>
              </a:rPr>
              <a:t>|</a:t>
            </a:r>
            <a:r>
              <a:rPr b="1" sz="1200" i="0" u="none">
                <a:solidFill>
                  <a:srgbClr val="FFFFFF"/>
                </a:solidFill>
                <a:latin typeface="Poppins"/>
              </a:rPr>
              <a:t> </a:t>
            </a:r>
            <a:r>
              <a:rPr b="1" sz="1200" i="0" u="none">
                <a:solidFill>
                  <a:srgbClr val="00A4E4"/>
                </a:solidFill>
                <a:latin typeface="Poppins"/>
              </a:rPr>
              <a:t>snowflake</a:t>
            </a:r>
            <a:r>
              <a:rPr b="1" sz="1200" i="0" u="none">
                <a:solidFill>
                  <a:srgbClr val="FFFFFF"/>
                </a:solidFill>
                <a:latin typeface="Poppins"/>
              </a:rPr>
              <a:t> </a:t>
            </a:r>
            <a:r>
              <a:rPr b="0" sz="1200" i="0" u="none">
                <a:solidFill>
                  <a:srgbClr val="475569"/>
                </a:solidFill>
                <a:latin typeface="Poppins Light"/>
              </a:rPr>
              <a:t>|</a:t>
            </a:r>
            <a:r>
              <a:rPr b="1" sz="1200" i="0" u="none">
                <a:solidFill>
                  <a:srgbClr val="FFFFFF"/>
                </a:solidFill>
                <a:latin typeface="Poppins"/>
              </a:rPr>
              <a:t> </a:t>
            </a:r>
            <a:r>
              <a:rPr b="1" sz="1200" i="0" u="none">
                <a:solidFill>
                  <a:srgbClr val="FFFFFF"/>
                </a:solidFill>
                <a:latin typeface="Poppins"/>
              </a:rPr>
              <a:t>H2S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15425" y="152400"/>
            <a:ext cx="2771775" cy="2762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200" i="0" u="none">
                <a:solidFill>
                  <a:srgbClr val="94A3B8"/>
                </a:solidFill>
                <a:latin typeface="Inter SemiBold"/>
              </a:rPr>
              <a:t>GCC Edition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15425" y="152400"/>
            <a:ext cx="1895475" cy="276225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66725" y="1533525"/>
          <a:ext cx="11258547" cy="35836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403871"/>
                <a:gridCol w="1261764"/>
                <a:gridCol w="5090814"/>
                <a:gridCol w="2502098"/>
              </a:tblGrid>
              <a:tr h="397271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Table Entity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913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Row Count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913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Description &amp; Key Attributes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913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Relational Schema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91322"/>
                    </a:solidFill>
                  </a:tcPr>
                </a:tc>
              </a:tr>
              <a:tr h="397271">
                <a:tc>
                  <a:txBody>
                    <a:bodyPr/>
                    <a:lstStyle/>
                    <a:p>
                      <a:pPr algn="l"/>
                      <a:r>
                        <a:rPr b="1" sz="1012" i="0" u="none">
                          <a:solidFill>
                            <a:srgbClr val="334155"/>
                          </a:solidFill>
                          <a:latin typeface="Inter"/>
                        </a:rPr>
                        <a:t>CUSTOMERS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334155"/>
                          </a:solidFill>
                          <a:latin typeface="Inter"/>
                        </a:rPr>
                        <a:t>500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334155"/>
                          </a:solidFill>
                          <a:latin typeface="Inter"/>
                        </a:rPr>
                        <a:t>Demographics, segment, CLV, status, overall health score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334155"/>
                          </a:solidFill>
                          <a:latin typeface="Inter"/>
                        </a:rPr>
                        <a:t>1 : Many Policies / Interactions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97271">
                <a:tc>
                  <a:txBody>
                    <a:bodyPr/>
                    <a:lstStyle/>
                    <a:p>
                      <a:pPr algn="l"/>
                      <a:r>
                        <a:rPr b="1" sz="1012" i="0" u="none">
                          <a:solidFill>
                            <a:srgbClr val="334155"/>
                          </a:solidFill>
                          <a:latin typeface="Inter"/>
                        </a:rPr>
                        <a:t>POLICIES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334155"/>
                          </a:solidFill>
                          <a:latin typeface="Inter"/>
                        </a:rPr>
                        <a:t>~780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334155"/>
                          </a:solidFill>
                          <a:latin typeface="Inter"/>
                        </a:rPr>
                        <a:t>Auto, Home, Life, Health lines, premium, renewal dates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334155"/>
                          </a:solidFill>
                          <a:latin typeface="Inter"/>
                        </a:rPr>
                        <a:t>1 : Many Claims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397271">
                <a:tc>
                  <a:txBody>
                    <a:bodyPr/>
                    <a:lstStyle/>
                    <a:p>
                      <a:pPr algn="l"/>
                      <a:r>
                        <a:rPr b="1" sz="1012" i="0" u="none">
                          <a:solidFill>
                            <a:srgbClr val="334155"/>
                          </a:solidFill>
                          <a:latin typeface="Inter"/>
                        </a:rPr>
                        <a:t>CLAIMS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334155"/>
                          </a:solidFill>
                          <a:latin typeface="Inter"/>
                        </a:rPr>
                        <a:t>~700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334155"/>
                          </a:solidFill>
                          <a:latin typeface="Inter"/>
                        </a:rPr>
                        <a:t>Claim severity, processing status, payout amounts, open flags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334155"/>
                          </a:solidFill>
                          <a:latin typeface="Inter"/>
                        </a:rPr>
                        <a:t>Mapped to Policies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97271">
                <a:tc>
                  <a:txBody>
                    <a:bodyPr/>
                    <a:lstStyle/>
                    <a:p>
                      <a:pPr algn="l"/>
                      <a:r>
                        <a:rPr b="1" sz="1012" i="0" u="none">
                          <a:solidFill>
                            <a:srgbClr val="334155"/>
                          </a:solidFill>
                          <a:latin typeface="Inter"/>
                        </a:rPr>
                        <a:t>CUSTOMER_INTERACTIONS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334155"/>
                          </a:solidFill>
                          <a:latin typeface="Inter"/>
                        </a:rPr>
                        <a:t>~2,400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334155"/>
                          </a:solidFill>
                          <a:latin typeface="Inter"/>
                        </a:rPr>
                        <a:t>Multi-channel touchpoints with sentiment scores &amp; escalation status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334155"/>
                          </a:solidFill>
                          <a:latin typeface="Inter"/>
                        </a:rPr>
                        <a:t>1 : 1 Call Transcripts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397276">
                <a:tc>
                  <a:txBody>
                    <a:bodyPr/>
                    <a:lstStyle/>
                    <a:p>
                      <a:pPr algn="l"/>
                      <a:r>
                        <a:rPr b="1" sz="1012" i="0" u="none">
                          <a:solidFill>
                            <a:srgbClr val="334155"/>
                          </a:solidFill>
                          <a:latin typeface="Inter"/>
                        </a:rPr>
                        <a:t>CALL_TRANSCRIPTS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334155"/>
                          </a:solidFill>
                          <a:latin typeface="Inter"/>
                        </a:rPr>
                        <a:t>~1,100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334155"/>
                          </a:solidFill>
                          <a:latin typeface="Inter"/>
                        </a:rPr>
                        <a:t>Realistic multi-turn conversation text for deep sentiment analysis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334155"/>
                          </a:solidFill>
                          <a:latin typeface="Inter"/>
                        </a:rPr>
                        <a:t>Mapped to Interactions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97276">
                <a:tc>
                  <a:txBody>
                    <a:bodyPr/>
                    <a:lstStyle/>
                    <a:p>
                      <a:pPr algn="l"/>
                      <a:r>
                        <a:rPr b="1" sz="1012" i="0" u="none">
                          <a:solidFill>
                            <a:srgbClr val="3498DB"/>
                          </a:solidFill>
                          <a:latin typeface="Inter"/>
                        </a:rPr>
                        <a:t>CUSTOMER_360_VIEW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3498DB"/>
                          </a:solidFill>
                          <a:latin typeface="Inter"/>
                        </a:rPr>
                        <a:t>500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3498DB"/>
                          </a:solidFill>
                          <a:latin typeface="Inter"/>
                        </a:rPr>
                        <a:t>Unified customer view with 9-signal churn risk scoring, health score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3498DB"/>
                          </a:solidFill>
                          <a:latin typeface="Inter"/>
                        </a:rPr>
                        <a:t>Dynamic Table (10-min refresh)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F5FB"/>
                    </a:solidFill>
                  </a:tcPr>
                </a:tc>
              </a:tr>
              <a:tr h="397276">
                <a:tc>
                  <a:txBody>
                    <a:bodyPr/>
                    <a:lstStyle/>
                    <a:p>
                      <a:pPr algn="l"/>
                      <a:r>
                        <a:rPr b="1" sz="1012" i="0" u="none">
                          <a:solidFill>
                            <a:srgbClr val="3498DB"/>
                          </a:solidFill>
                          <a:latin typeface="Inter"/>
                        </a:rPr>
                        <a:t>CHURN_SIGNALS_EXPLAINED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3498DB"/>
                          </a:solidFill>
                          <a:latin typeface="Inter"/>
                        </a:rPr>
                        <a:t>500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3498DB"/>
                          </a:solidFill>
                          <a:latin typeface="Inter"/>
                        </a:rPr>
                        <a:t>Explainable churn drivers per customer with signal levels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3498DB"/>
                          </a:solidFill>
                          <a:latin typeface="Inter"/>
                        </a:rPr>
                        <a:t>Dynamic Table (10-min refresh)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F5FB"/>
                    </a:solidFill>
                  </a:tcPr>
                </a:tc>
              </a:tr>
              <a:tr h="397276">
                <a:tc>
                  <a:txBody>
                    <a:bodyPr/>
                    <a:lstStyle/>
                    <a:p>
                      <a:pPr algn="l"/>
                      <a:r>
                        <a:rPr b="1" sz="1012" i="0" u="none">
                          <a:solidFill>
                            <a:srgbClr val="3498DB"/>
                          </a:solidFill>
                          <a:latin typeface="Inter"/>
                        </a:rPr>
                        <a:t>NEXT_BEST_ACTION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3498DB"/>
                          </a:solidFill>
                          <a:latin typeface="Inter"/>
                        </a:rPr>
                        <a:t>407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3498DB"/>
                          </a:solidFill>
                          <a:latin typeface="Inter"/>
                        </a:rPr>
                        <a:t>Prioritized retention recommendations with suggested channel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3498DB"/>
                          </a:solidFill>
                          <a:latin typeface="Inter"/>
                        </a:rPr>
                        <a:t>Dynamic Table (10-min refresh)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38175" y="4221956"/>
            <a:ext cx="10915650" cy="385762"/>
          </a:xfrm>
          <a:prstGeom prst="rect">
            <a:avLst/>
          </a:prstGeom>
          <a:noFill/>
        </p:spPr>
        <p:txBody>
          <a:bodyPr wrap="square" lIns="114300" rIns="0" t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b="1" sz="1012" i="0" u="none">
                <a:solidFill>
                  <a:srgbClr val="0369A1"/>
                </a:solidFill>
                <a:latin typeface="Inter"/>
              </a:rPr>
              <a:t>Data Governance Note: Synthetic data with 100% programmatically generated records. 3 Dynamic Tables (CUSTOMER_360_VIEW, CHURN_SIGNALS_EXPLAINED, NEXT_BEST_ACTION) auto-refresh every 10 minutes with pre-computed churn scores for instant app performance.</a:t>
            </a:r>
            <a:r>
              <a:rPr b="0" sz="1012" i="0" u="none">
                <a:solidFill>
                  <a:srgbClr val="0369A1"/>
                </a:solidFill>
                <a:latin typeface="Inter"/>
              </a:rPr>
              <a:t> Synthetic data structured with 100% programmatically generated records ensuring strict privacy while mirroring real-world relational insurance complexities.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175" y="4260056"/>
            <a:ext cx="114300" cy="128587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66725" y="2340768"/>
            <a:ext cx="240387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70596" y="2340768"/>
            <a:ext cx="12617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32361" y="2340768"/>
            <a:ext cx="509081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223176" y="2340768"/>
            <a:ext cx="250209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66725" y="2733675"/>
            <a:ext cx="240387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70596" y="2733675"/>
            <a:ext cx="12617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32361" y="2733675"/>
            <a:ext cx="509081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23176" y="2733675"/>
            <a:ext cx="250209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6725" y="3126581"/>
            <a:ext cx="240387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70596" y="3126581"/>
            <a:ext cx="12617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32361" y="3126581"/>
            <a:ext cx="509081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223176" y="3126581"/>
            <a:ext cx="250209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66725" y="3519487"/>
            <a:ext cx="240387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70596" y="3519487"/>
            <a:ext cx="12617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32361" y="3519487"/>
            <a:ext cx="509081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223176" y="3519487"/>
            <a:ext cx="250209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24000"/>
            <a:ext cx="11277600" cy="200977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86175"/>
            <a:ext cx="11277600" cy="44053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09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800850"/>
            <a:ext cx="12192000" cy="571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838200"/>
            <a:ext cx="1173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oppins"/>
              </a:rPr>
              <a:t>Explainable 9-Signal Churn Risk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4800" y="171450"/>
            <a:ext cx="2905125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Poppins"/>
              </a:rPr>
              <a:t>YOURSTORY</a:t>
            </a:r>
            <a:r>
              <a:rPr b="1" sz="1200" i="0" u="none">
                <a:solidFill>
                  <a:srgbClr val="FFFFFF"/>
                </a:solidFill>
                <a:latin typeface="Poppins"/>
              </a:rPr>
              <a:t> </a:t>
            </a:r>
            <a:r>
              <a:rPr b="0" sz="1200" i="0" u="none">
                <a:solidFill>
                  <a:srgbClr val="475569"/>
                </a:solidFill>
                <a:latin typeface="Poppins Light"/>
              </a:rPr>
              <a:t>|</a:t>
            </a:r>
            <a:r>
              <a:rPr b="1" sz="1200" i="0" u="none">
                <a:solidFill>
                  <a:srgbClr val="FFFFFF"/>
                </a:solidFill>
                <a:latin typeface="Poppins"/>
              </a:rPr>
              <a:t> </a:t>
            </a:r>
            <a:r>
              <a:rPr b="1" sz="1200" i="0" u="none">
                <a:solidFill>
                  <a:srgbClr val="00A4E4"/>
                </a:solidFill>
                <a:latin typeface="Poppins"/>
              </a:rPr>
              <a:t>snowflake</a:t>
            </a:r>
            <a:r>
              <a:rPr b="1" sz="1200" i="0" u="none">
                <a:solidFill>
                  <a:srgbClr val="FFFFFF"/>
                </a:solidFill>
                <a:latin typeface="Poppins"/>
              </a:rPr>
              <a:t> </a:t>
            </a:r>
            <a:r>
              <a:rPr b="0" sz="1200" i="0" u="none">
                <a:solidFill>
                  <a:srgbClr val="475569"/>
                </a:solidFill>
                <a:latin typeface="Poppins Light"/>
              </a:rPr>
              <a:t>|</a:t>
            </a:r>
            <a:r>
              <a:rPr b="1" sz="1200" i="0" u="none">
                <a:solidFill>
                  <a:srgbClr val="FFFFFF"/>
                </a:solidFill>
                <a:latin typeface="Poppins"/>
              </a:rPr>
              <a:t> </a:t>
            </a:r>
            <a:r>
              <a:rPr b="1" sz="1200" i="0" u="none">
                <a:solidFill>
                  <a:srgbClr val="FFFFFF"/>
                </a:solidFill>
                <a:latin typeface="Poppins"/>
              </a:rPr>
              <a:t>H2S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15425" y="152400"/>
            <a:ext cx="2771775" cy="2762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200" i="0" u="none">
                <a:solidFill>
                  <a:srgbClr val="94A3B8"/>
                </a:solidFill>
                <a:latin typeface="Inter SemiBold"/>
              </a:rPr>
              <a:t>GCC Edition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15425" y="152400"/>
            <a:ext cx="1895475" cy="276225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66725" y="1533525"/>
          <a:ext cx="11258548" cy="19907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3332112"/>
                <a:gridCol w="1295102"/>
                <a:gridCol w="4804469"/>
                <a:gridCol w="1826865"/>
              </a:tblGrid>
              <a:tr h="398145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Risk Signal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913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Max Points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913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Data Source &amp; Trigger Condition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913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Category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91322"/>
                    </a:solidFill>
                  </a:tcPr>
                </a:tc>
              </a:tr>
              <a:tr h="398145">
                <a:tc>
                  <a:txBody>
                    <a:bodyPr/>
                    <a:lstStyle/>
                    <a:p>
                      <a:pPr algn="l"/>
                      <a:r>
                        <a:rPr b="1" sz="1012" i="0" u="none">
                          <a:solidFill>
                            <a:srgbClr val="334155"/>
                          </a:solidFill>
                          <a:latin typeface="Inter"/>
                        </a:rPr>
                        <a:t>Negative Sentiment / Cancellation Intent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334155"/>
                          </a:solidFill>
                          <a:latin typeface="Inter"/>
                        </a:rPr>
                        <a:t>40 pts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334155"/>
                          </a:solidFill>
                          <a:latin typeface="Inter"/>
                        </a:rPr>
                        <a:t>Cortex sentiment scores + transcript explicit intent detection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334155"/>
                          </a:solidFill>
                          <a:latin typeface="Inter"/>
                        </a:rPr>
                        <a:t>Sentiment / Intent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98145">
                <a:tc>
                  <a:txBody>
                    <a:bodyPr/>
                    <a:lstStyle/>
                    <a:p>
                      <a:pPr algn="l"/>
                      <a:r>
                        <a:rPr b="1" sz="1012" i="0" u="none">
                          <a:solidFill>
                            <a:srgbClr val="334155"/>
                          </a:solidFill>
                          <a:latin typeface="Inter"/>
                        </a:rPr>
                        <a:t>Complaint &amp; Unresolved Issues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334155"/>
                          </a:solidFill>
                          <a:latin typeface="Inter"/>
                        </a:rPr>
                        <a:t>25 pts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334155"/>
                          </a:solidFill>
                          <a:latin typeface="Inter"/>
                        </a:rPr>
                        <a:t>Frequent complaint interactions + unresolved/escalated status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334155"/>
                          </a:solidFill>
                          <a:latin typeface="Inter"/>
                        </a:rPr>
                        <a:t>Service Experience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398145">
                <a:tc>
                  <a:txBody>
                    <a:bodyPr/>
                    <a:lstStyle/>
                    <a:p>
                      <a:pPr algn="l"/>
                      <a:r>
                        <a:rPr b="1" sz="1012" i="0" u="none">
                          <a:solidFill>
                            <a:srgbClr val="334155"/>
                          </a:solidFill>
                          <a:latin typeface="Inter"/>
                        </a:rPr>
                        <a:t>Open / Delayed Claims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334155"/>
                          </a:solidFill>
                          <a:latin typeface="Inter"/>
                        </a:rPr>
                        <a:t>15 pts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334155"/>
                          </a:solidFill>
                          <a:latin typeface="Inter"/>
                        </a:rPr>
                        <a:t>Claims currently pending or exceeding 30-day resolution SLA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334155"/>
                          </a:solidFill>
                          <a:latin typeface="Inter"/>
                        </a:rPr>
                        <a:t>Claims Operations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98145">
                <a:tc>
                  <a:txBody>
                    <a:bodyPr/>
                    <a:lstStyle/>
                    <a:p>
                      <a:pPr algn="l"/>
                      <a:r>
                        <a:rPr b="1" sz="1012" i="0" u="none">
                          <a:solidFill>
                            <a:srgbClr val="334155"/>
                          </a:solidFill>
                          <a:latin typeface="Inter"/>
                        </a:rPr>
                        <a:t>Payment Issues &amp; Renewal Proximity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334155"/>
                          </a:solidFill>
                          <a:latin typeface="Inter"/>
                        </a:rPr>
                        <a:t>20 pts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334155"/>
                          </a:solidFill>
                          <a:latin typeface="Inter"/>
                        </a:rPr>
                        <a:t>Late/overdue payment status + policy renewal within 30 days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334155"/>
                          </a:solidFill>
                          <a:latin typeface="Inter"/>
                        </a:rPr>
                        <a:t>Financial &amp; Contract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38175" y="3810000"/>
            <a:ext cx="10915650" cy="192881"/>
          </a:xfrm>
          <a:prstGeom prst="rect">
            <a:avLst/>
          </a:prstGeom>
          <a:noFill/>
        </p:spPr>
        <p:txBody>
          <a:bodyPr wrap="square" lIns="133350" rIns="0" t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b="1" sz="1012" i="0" u="none">
                <a:solidFill>
                  <a:srgbClr val="9D174D"/>
                </a:solidFill>
                <a:latin typeface="Inter"/>
              </a:rPr>
              <a:t>Transparent AI:</a:t>
            </a:r>
            <a:r>
              <a:rPr b="0" sz="1012" i="0" u="none">
                <a:solidFill>
                  <a:srgbClr val="9D174D"/>
                </a:solidFill>
                <a:latin typeface="Inter"/>
              </a:rPr>
              <a:t> Every risk score (0-100) clearly separates verifiable data facts from LLM interpretation, building agent trust.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175" y="3848100"/>
            <a:ext cx="133350" cy="128587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66725" y="2340768"/>
            <a:ext cx="33321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798837" y="2340768"/>
            <a:ext cx="129510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93940" y="2340768"/>
            <a:ext cx="480446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898409" y="2340768"/>
            <a:ext cx="182686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66725" y="2733675"/>
            <a:ext cx="33321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98837" y="2733675"/>
            <a:ext cx="129510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93940" y="2733675"/>
            <a:ext cx="480446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898409" y="2733675"/>
            <a:ext cx="182686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6725" y="3126581"/>
            <a:ext cx="33321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798837" y="3126581"/>
            <a:ext cx="129510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93940" y="3126581"/>
            <a:ext cx="480446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898409" y="3126581"/>
            <a:ext cx="182686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70287" y="2057400"/>
            <a:ext cx="561975" cy="1905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70287" y="2450306"/>
            <a:ext cx="552450" cy="1905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70287" y="2843212"/>
            <a:ext cx="523875" cy="1905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70287" y="3236118"/>
            <a:ext cx="561975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24000"/>
            <a:ext cx="5524500" cy="218122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300" y="1524000"/>
            <a:ext cx="5524500" cy="21812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09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800850"/>
            <a:ext cx="12192000" cy="571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838200"/>
            <a:ext cx="1173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oppins"/>
              </a:rPr>
              <a:t>Next Best Action Engine &amp; Personalization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4800" y="171450"/>
            <a:ext cx="2905125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Poppins"/>
              </a:rPr>
              <a:t>YOURSTORY</a:t>
            </a:r>
            <a:r>
              <a:rPr b="1" sz="1200" i="0" u="none">
                <a:solidFill>
                  <a:srgbClr val="FFFFFF"/>
                </a:solidFill>
                <a:latin typeface="Poppins"/>
              </a:rPr>
              <a:t> </a:t>
            </a:r>
            <a:r>
              <a:rPr b="0" sz="1200" i="0" u="none">
                <a:solidFill>
                  <a:srgbClr val="475569"/>
                </a:solidFill>
                <a:latin typeface="Poppins Light"/>
              </a:rPr>
              <a:t>|</a:t>
            </a:r>
            <a:r>
              <a:rPr b="1" sz="1200" i="0" u="none">
                <a:solidFill>
                  <a:srgbClr val="FFFFFF"/>
                </a:solidFill>
                <a:latin typeface="Poppins"/>
              </a:rPr>
              <a:t> </a:t>
            </a:r>
            <a:r>
              <a:rPr b="1" sz="1200" i="0" u="none">
                <a:solidFill>
                  <a:srgbClr val="00A4E4"/>
                </a:solidFill>
                <a:latin typeface="Poppins"/>
              </a:rPr>
              <a:t>snowflake</a:t>
            </a:r>
            <a:r>
              <a:rPr b="1" sz="1200" i="0" u="none">
                <a:solidFill>
                  <a:srgbClr val="FFFFFF"/>
                </a:solidFill>
                <a:latin typeface="Poppins"/>
              </a:rPr>
              <a:t> </a:t>
            </a:r>
            <a:r>
              <a:rPr b="0" sz="1200" i="0" u="none">
                <a:solidFill>
                  <a:srgbClr val="475569"/>
                </a:solidFill>
                <a:latin typeface="Poppins Light"/>
              </a:rPr>
              <a:t>|</a:t>
            </a:r>
            <a:r>
              <a:rPr b="1" sz="1200" i="0" u="none">
                <a:solidFill>
                  <a:srgbClr val="FFFFFF"/>
                </a:solidFill>
                <a:latin typeface="Poppins"/>
              </a:rPr>
              <a:t> </a:t>
            </a:r>
            <a:r>
              <a:rPr b="1" sz="1200" i="0" u="none">
                <a:solidFill>
                  <a:srgbClr val="FFFFFF"/>
                </a:solidFill>
                <a:latin typeface="Poppins"/>
              </a:rPr>
              <a:t>H2S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15425" y="152400"/>
            <a:ext cx="2771775" cy="2762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200" i="0" u="none">
                <a:solidFill>
                  <a:srgbClr val="94A3B8"/>
                </a:solidFill>
                <a:latin typeface="Inter SemiBold"/>
              </a:rPr>
              <a:t>GCC Edition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15425" y="152400"/>
            <a:ext cx="1895475" cy="2762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8175" y="1704975"/>
            <a:ext cx="5420677" cy="247650"/>
          </a:xfrm>
          <a:prstGeom prst="rect">
            <a:avLst/>
          </a:prstGeom>
          <a:noFill/>
        </p:spPr>
        <p:txBody>
          <a:bodyPr wrap="square" lIns="161925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oppins"/>
              </a:rPr>
              <a:t>11 Deterministic Action Rules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91275" y="1704975"/>
            <a:ext cx="5420677" cy="247650"/>
          </a:xfrm>
          <a:prstGeom prst="rect">
            <a:avLst/>
          </a:prstGeom>
          <a:noFill/>
        </p:spPr>
        <p:txBody>
          <a:bodyPr wrap="square" lIns="161925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oppins"/>
              </a:rPr>
              <a:t>AI Communication Generator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91275" y="2009775"/>
            <a:ext cx="5162550" cy="3726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b="0" sz="1012" i="0" u="none">
                <a:solidFill>
                  <a:srgbClr val="475569"/>
                </a:solidFill>
                <a:latin typeface="Inter"/>
              </a:rPr>
              <a:t>Cortex COMPLETE generates tailored, context-aware draft communications instantly: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175" y="1743075"/>
            <a:ext cx="161925" cy="1619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85825" y="2047875"/>
            <a:ext cx="49149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0" u="none">
                <a:solidFill>
                  <a:srgbClr val="334155"/>
                </a:solidFill>
                <a:latin typeface="Inter"/>
              </a:rPr>
              <a:t>Escalate Claim:</a:t>
            </a:r>
            <a:r>
              <a:rPr b="0" sz="1050" i="0" u="none">
                <a:solidFill>
                  <a:srgbClr val="334155"/>
                </a:solidFill>
                <a:latin typeface="Inter"/>
              </a:rPr>
              <a:t> Open high-value claim + complaints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825" y="2343150"/>
            <a:ext cx="49149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0" u="none">
                <a:solidFill>
                  <a:srgbClr val="334155"/>
                </a:solidFill>
                <a:latin typeface="Inter"/>
              </a:rPr>
              <a:t>Retention Outreach:</a:t>
            </a:r>
            <a:r>
              <a:rPr b="0" sz="1050" i="0" u="none">
                <a:solidFill>
                  <a:srgbClr val="334155"/>
                </a:solidFill>
                <a:latin typeface="Inter"/>
              </a:rPr>
              <a:t> High CLV + cancellation intent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5825" y="2638425"/>
            <a:ext cx="49149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0" u="none">
                <a:solidFill>
                  <a:srgbClr val="334155"/>
                </a:solidFill>
                <a:latin typeface="Inter"/>
              </a:rPr>
              <a:t>Renewal Retention:</a:t>
            </a:r>
            <a:r>
              <a:rPr b="0" sz="1050" i="0" u="none">
                <a:solidFill>
                  <a:srgbClr val="334155"/>
                </a:solidFill>
                <a:latin typeface="Inter"/>
              </a:rPr>
              <a:t> Cancellation intent + renewal near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825" y="2933700"/>
            <a:ext cx="49149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0" u="none">
                <a:solidFill>
                  <a:srgbClr val="334155"/>
                </a:solidFill>
                <a:latin typeface="Inter"/>
              </a:rPr>
              <a:t>Payment Assistance:</a:t>
            </a:r>
            <a:r>
              <a:rPr b="0" sz="1050" i="0" u="none">
                <a:solidFill>
                  <a:srgbClr val="334155"/>
                </a:solidFill>
                <a:latin typeface="Inter"/>
              </a:rPr>
              <a:t> Overdue status + multiple policies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5825" y="3228975"/>
            <a:ext cx="49149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0" u="none">
                <a:solidFill>
                  <a:srgbClr val="334155"/>
                </a:solidFill>
                <a:latin typeface="Inter"/>
              </a:rPr>
              <a:t>Service Recovery:</a:t>
            </a:r>
            <a:r>
              <a:rPr b="0" sz="1050" i="0" u="none">
                <a:solidFill>
                  <a:srgbClr val="334155"/>
                </a:solidFill>
                <a:latin typeface="Inter"/>
              </a:rPr>
              <a:t> Multiple unresolved interactions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91275" y="1743075"/>
            <a:ext cx="161925" cy="16192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638925" y="2496740"/>
            <a:ext cx="49149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0" u="none">
                <a:solidFill>
                  <a:srgbClr val="334155"/>
                </a:solidFill>
                <a:latin typeface="Inter"/>
              </a:rPr>
              <a:t>Phone Scripts:</a:t>
            </a:r>
            <a:r>
              <a:rPr b="0" sz="1050" i="0" u="none">
                <a:solidFill>
                  <a:srgbClr val="334155"/>
                </a:solidFill>
                <a:latin typeface="Inter"/>
              </a:rPr>
              <a:t> Empathy-first talking points for agents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38925" y="2792015"/>
            <a:ext cx="49149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0" u="none">
                <a:solidFill>
                  <a:srgbClr val="334155"/>
                </a:solidFill>
                <a:latin typeface="Inter"/>
              </a:rPr>
              <a:t>Email Drafts:</a:t>
            </a:r>
            <a:r>
              <a:rPr b="0" sz="1050" i="0" u="none">
                <a:solidFill>
                  <a:srgbClr val="334155"/>
                </a:solidFill>
                <a:latin typeface="Inter"/>
              </a:rPr>
              <a:t> Formal, personalized resolution proposals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38925" y="3087290"/>
            <a:ext cx="49149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0" u="none">
                <a:solidFill>
                  <a:srgbClr val="334155"/>
                </a:solidFill>
                <a:latin typeface="Inter"/>
              </a:rPr>
              <a:t>SMS Messages:</a:t>
            </a:r>
            <a:r>
              <a:rPr b="0" sz="1050" i="0" u="none">
                <a:solidFill>
                  <a:srgbClr val="334155"/>
                </a:solidFill>
                <a:latin typeface="Inter"/>
              </a:rPr>
              <a:t> Short, actionable reminder notifications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8175" y="2076450"/>
            <a:ext cx="123825" cy="1428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8175" y="2371725"/>
            <a:ext cx="123825" cy="1428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8175" y="2667000"/>
            <a:ext cx="123825" cy="14287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8175" y="2962275"/>
            <a:ext cx="123825" cy="14287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8175" y="3257550"/>
            <a:ext cx="123825" cy="14287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91275" y="2525315"/>
            <a:ext cx="142875" cy="14287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91275" y="2820590"/>
            <a:ext cx="142875" cy="142875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91275" y="3115865"/>
            <a:ext cx="142875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24000"/>
            <a:ext cx="5524500" cy="24574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300" y="1524000"/>
            <a:ext cx="5524500" cy="24574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09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800850"/>
            <a:ext cx="12192000" cy="571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838200"/>
            <a:ext cx="1173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oppins"/>
              </a:rPr>
              <a:t>Golden Demo Walkthrough: Emily Mitchell (CUST-0340)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4800" y="171450"/>
            <a:ext cx="2905125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Poppins"/>
              </a:rPr>
              <a:t>YOURSTORY</a:t>
            </a:r>
            <a:r>
              <a:rPr b="1" sz="1200" i="0" u="none">
                <a:solidFill>
                  <a:srgbClr val="FFFFFF"/>
                </a:solidFill>
                <a:latin typeface="Poppins"/>
              </a:rPr>
              <a:t> </a:t>
            </a:r>
            <a:r>
              <a:rPr b="0" sz="1200" i="0" u="none">
                <a:solidFill>
                  <a:srgbClr val="475569"/>
                </a:solidFill>
                <a:latin typeface="Poppins Light"/>
              </a:rPr>
              <a:t>|</a:t>
            </a:r>
            <a:r>
              <a:rPr b="1" sz="1200" i="0" u="none">
                <a:solidFill>
                  <a:srgbClr val="FFFFFF"/>
                </a:solidFill>
                <a:latin typeface="Poppins"/>
              </a:rPr>
              <a:t> </a:t>
            </a:r>
            <a:r>
              <a:rPr b="1" sz="1200" i="0" u="none">
                <a:solidFill>
                  <a:srgbClr val="00A4E4"/>
                </a:solidFill>
                <a:latin typeface="Poppins"/>
              </a:rPr>
              <a:t>snowflake</a:t>
            </a:r>
            <a:r>
              <a:rPr b="1" sz="1200" i="0" u="none">
                <a:solidFill>
                  <a:srgbClr val="FFFFFF"/>
                </a:solidFill>
                <a:latin typeface="Poppins"/>
              </a:rPr>
              <a:t> </a:t>
            </a:r>
            <a:r>
              <a:rPr b="0" sz="1200" i="0" u="none">
                <a:solidFill>
                  <a:srgbClr val="475569"/>
                </a:solidFill>
                <a:latin typeface="Poppins Light"/>
              </a:rPr>
              <a:t>|</a:t>
            </a:r>
            <a:r>
              <a:rPr b="1" sz="1200" i="0" u="none">
                <a:solidFill>
                  <a:srgbClr val="FFFFFF"/>
                </a:solidFill>
                <a:latin typeface="Poppins"/>
              </a:rPr>
              <a:t> </a:t>
            </a:r>
            <a:r>
              <a:rPr b="1" sz="1200" i="0" u="none">
                <a:solidFill>
                  <a:srgbClr val="FFFFFF"/>
                </a:solidFill>
                <a:latin typeface="Poppins"/>
              </a:rPr>
              <a:t>H2S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15425" y="152400"/>
            <a:ext cx="2771775" cy="2762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200" i="0" u="none">
                <a:solidFill>
                  <a:srgbClr val="94A3B8"/>
                </a:solidFill>
                <a:latin typeface="Inter SemiBold"/>
              </a:rPr>
              <a:t>GCC Edition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15425" y="152400"/>
            <a:ext cx="1895475" cy="2762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8175" y="1704975"/>
            <a:ext cx="5420677" cy="247650"/>
          </a:xfrm>
          <a:prstGeom prst="rect">
            <a:avLst/>
          </a:prstGeom>
          <a:noFill/>
        </p:spPr>
        <p:txBody>
          <a:bodyPr wrap="square" lIns="142875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oppins"/>
              </a:rPr>
              <a:t>Featured Customer Profile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91275" y="1704975"/>
            <a:ext cx="5420677" cy="247650"/>
          </a:xfrm>
          <a:prstGeom prst="rect">
            <a:avLst/>
          </a:prstGeom>
          <a:noFill/>
        </p:spPr>
        <p:txBody>
          <a:bodyPr wrap="square" lIns="161925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oppins"/>
              </a:rPr>
              <a:t>7-Step Guided Judge Flow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175" y="1743075"/>
            <a:ext cx="142875" cy="1619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85825" y="2028825"/>
            <a:ext cx="49149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0" u="none">
                <a:solidFill>
                  <a:srgbClr val="334155"/>
                </a:solidFill>
                <a:latin typeface="Inter"/>
              </a:rPr>
              <a:t>Customer:</a:t>
            </a:r>
            <a:r>
              <a:rPr b="0" sz="1050" i="0" u="none">
                <a:solidFill>
                  <a:srgbClr val="334155"/>
                </a:solidFill>
                <a:latin typeface="Inter"/>
              </a:rPr>
              <a:t> Emily Mitchell (Premium Segment)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825" y="2324100"/>
            <a:ext cx="49149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0" u="none">
                <a:solidFill>
                  <a:srgbClr val="334155"/>
                </a:solidFill>
                <a:latin typeface="Inter"/>
              </a:rPr>
              <a:t>Customer Lifetime Value:</a:t>
            </a:r>
            <a:r>
              <a:rPr b="0" sz="1050" i="0" u="none">
                <a:solidFill>
                  <a:srgbClr val="334155"/>
                </a:solidFill>
                <a:latin typeface="Inter"/>
              </a:rPr>
              <a:t> ~$53,000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825" y="2619375"/>
            <a:ext cx="49149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0" u="none">
                <a:solidFill>
                  <a:srgbClr val="334155"/>
                </a:solidFill>
                <a:latin typeface="Inter"/>
              </a:rPr>
              <a:t>Churn Risk:</a:t>
            </a:r>
            <a:r>
              <a:rPr b="0" sz="1050" i="0" u="none">
                <a:solidFill>
                  <a:srgbClr val="334155"/>
                </a:solidFill>
                <a:latin typeface="Inter"/>
              </a:rPr>
              <a:t> HIGH (83 / 100 Risk, 10 Health)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5825" y="2914650"/>
            <a:ext cx="49149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0" u="none">
                <a:solidFill>
                  <a:srgbClr val="334155"/>
                </a:solidFill>
                <a:latin typeface="Inter"/>
              </a:rPr>
              <a:t>Triggers:</a:t>
            </a:r>
            <a:r>
              <a:rPr b="0" sz="1050" i="0" u="none">
                <a:solidFill>
                  <a:srgbClr val="334155"/>
                </a:solidFill>
                <a:latin typeface="Inter"/>
              </a:rPr>
              <a:t> ~$35K claim under review + 4 cancellation calls + overdue Life policy payment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91275" y="1743075"/>
            <a:ext cx="161925" cy="16192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638925" y="2028825"/>
            <a:ext cx="49149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334155"/>
                </a:solidFill>
                <a:latin typeface="Inter"/>
              </a:rPr>
              <a:t>Executive Dashboard → View top-risk queue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38925" y="2324100"/>
            <a:ext cx="49149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334155"/>
                </a:solidFill>
                <a:latin typeface="Inter"/>
              </a:rPr>
              <a:t>Select Emily Mitchell → Inspect risk drivers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38925" y="2619375"/>
            <a:ext cx="49149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334155"/>
                </a:solidFill>
                <a:latin typeface="Inter"/>
              </a:rPr>
              <a:t>Transcript Intelligence → See verbatim intent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38925" y="2914650"/>
            <a:ext cx="49149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334155"/>
                </a:solidFill>
                <a:latin typeface="Inter"/>
              </a:rPr>
              <a:t>AI Summary → Generate 360 relationship 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38925" y="3209925"/>
            <a:ext cx="49149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334155"/>
                </a:solidFill>
                <a:latin typeface="Inter"/>
              </a:rPr>
              <a:t>Communication Panel → Create phone script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38925" y="3505200"/>
            <a:ext cx="49149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334155"/>
                </a:solidFill>
                <a:latin typeface="Inter"/>
              </a:rPr>
              <a:t>Ask Customer 360 → Query NL risk reasons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8175" y="2057400"/>
            <a:ext cx="104775" cy="1428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8175" y="2352675"/>
            <a:ext cx="95250" cy="14287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8175" y="2647950"/>
            <a:ext cx="142875" cy="14287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8175" y="2943225"/>
            <a:ext cx="104775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24000"/>
            <a:ext cx="2705100" cy="8763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4700" y="1524000"/>
            <a:ext cx="2705100" cy="8763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524000"/>
            <a:ext cx="2705100" cy="8763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9700" y="1524000"/>
            <a:ext cx="2705100" cy="8763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571750"/>
            <a:ext cx="5524500" cy="1295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0300" y="2571750"/>
            <a:ext cx="5524500" cy="1295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09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6800850"/>
            <a:ext cx="12192000" cy="571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838200"/>
            <a:ext cx="1173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oppins"/>
              </a:rPr>
              <a:t>Measurable Impact &amp; Production Readiness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4800" y="171450"/>
            <a:ext cx="2905125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Poppins"/>
              </a:rPr>
              <a:t>YOURSTORY</a:t>
            </a:r>
            <a:r>
              <a:rPr b="1" sz="1200" i="0" u="none">
                <a:solidFill>
                  <a:srgbClr val="FFFFFF"/>
                </a:solidFill>
                <a:latin typeface="Poppins"/>
              </a:rPr>
              <a:t> </a:t>
            </a:r>
            <a:r>
              <a:rPr b="0" sz="1200" i="0" u="none">
                <a:solidFill>
                  <a:srgbClr val="475569"/>
                </a:solidFill>
                <a:latin typeface="Poppins Light"/>
              </a:rPr>
              <a:t>|</a:t>
            </a:r>
            <a:r>
              <a:rPr b="1" sz="1200" i="0" u="none">
                <a:solidFill>
                  <a:srgbClr val="FFFFFF"/>
                </a:solidFill>
                <a:latin typeface="Poppins"/>
              </a:rPr>
              <a:t> </a:t>
            </a:r>
            <a:r>
              <a:rPr b="1" sz="1200" i="0" u="none">
                <a:solidFill>
                  <a:srgbClr val="00A4E4"/>
                </a:solidFill>
                <a:latin typeface="Poppins"/>
              </a:rPr>
              <a:t>snowflake</a:t>
            </a:r>
            <a:r>
              <a:rPr b="1" sz="1200" i="0" u="none">
                <a:solidFill>
                  <a:srgbClr val="FFFFFF"/>
                </a:solidFill>
                <a:latin typeface="Poppins"/>
              </a:rPr>
              <a:t> </a:t>
            </a:r>
            <a:r>
              <a:rPr b="0" sz="1200" i="0" u="none">
                <a:solidFill>
                  <a:srgbClr val="475569"/>
                </a:solidFill>
                <a:latin typeface="Poppins Light"/>
              </a:rPr>
              <a:t>|</a:t>
            </a:r>
            <a:r>
              <a:rPr b="1" sz="1200" i="0" u="none">
                <a:solidFill>
                  <a:srgbClr val="FFFFFF"/>
                </a:solidFill>
                <a:latin typeface="Poppins"/>
              </a:rPr>
              <a:t> </a:t>
            </a:r>
            <a:r>
              <a:rPr b="1" sz="1200" i="0" u="none">
                <a:solidFill>
                  <a:srgbClr val="FFFFFF"/>
                </a:solidFill>
                <a:latin typeface="Poppins"/>
              </a:rPr>
              <a:t>H2S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15425" y="152400"/>
            <a:ext cx="2771775" cy="2762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200" i="0" u="none">
                <a:solidFill>
                  <a:srgbClr val="94A3B8"/>
                </a:solidFill>
                <a:latin typeface="Inter SemiBold"/>
              </a:rPr>
              <a:t>GCC Edition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15425" y="152400"/>
            <a:ext cx="1895475" cy="2762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9125" y="1685925"/>
            <a:ext cx="23812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b="0" sz="2700" i="0" u="none">
                <a:solidFill>
                  <a:srgbClr val="0284C7"/>
                </a:solidFill>
                <a:latin typeface="Poppins ExtraBold"/>
              </a:rP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125" y="2085975"/>
            <a:ext cx="23812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0F172A"/>
                </a:solidFill>
                <a:latin typeface="Inter"/>
              </a:rPr>
              <a:t>Snowflake Native Stack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6625" y="1685925"/>
            <a:ext cx="23812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b="0" sz="2700" i="0" u="none">
                <a:solidFill>
                  <a:srgbClr val="0284C7"/>
                </a:solidFill>
                <a:latin typeface="Poppins ExtraBold"/>
              </a:rPr>
              <a:t>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6625" y="2085975"/>
            <a:ext cx="23812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0F172A"/>
                </a:solidFill>
                <a:latin typeface="Inter"/>
              </a:rPr>
              <a:t>Explainable Risk Signals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4125" y="1685925"/>
            <a:ext cx="23812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b="0" sz="2700" i="0" u="none">
                <a:solidFill>
                  <a:srgbClr val="0284C7"/>
                </a:solidFill>
                <a:latin typeface="Poppins ExtraBold"/>
              </a:rPr>
              <a:t>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4125" y="2085975"/>
            <a:ext cx="23812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0F172A"/>
                </a:solidFill>
                <a:latin typeface="Inter"/>
              </a:rPr>
              <a:t>Automated Next Best Actions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91625" y="1685925"/>
            <a:ext cx="23812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b="0" sz="2700" i="0" u="none">
                <a:solidFill>
                  <a:srgbClr val="0284C7"/>
                </a:solidFill>
                <a:latin typeface="Poppins ExtraBold"/>
              </a:rPr>
              <a:t>&lt; 10s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91625" y="2085975"/>
            <a:ext cx="23812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0F172A"/>
                </a:solidFill>
                <a:latin typeface="Inter"/>
              </a:rPr>
              <a:t>End-to-End LLM Synthesis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175" y="2752725"/>
            <a:ext cx="5420677" cy="247650"/>
          </a:xfrm>
          <a:prstGeom prst="rect">
            <a:avLst/>
          </a:prstGeom>
          <a:noFill/>
        </p:spPr>
        <p:txBody>
          <a:bodyPr wrap="square" lIns="161925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oppins"/>
              </a:rPr>
              <a:t>Business Outcomes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1275" y="2752725"/>
            <a:ext cx="5420677" cy="247650"/>
          </a:xfrm>
          <a:prstGeom prst="rect">
            <a:avLst/>
          </a:prstGeom>
          <a:noFill/>
        </p:spPr>
        <p:txBody>
          <a:bodyPr wrap="square" lIns="161925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oppins"/>
              </a:rPr>
              <a:t>Enterprise Safeguards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8175" y="2790825"/>
            <a:ext cx="161925" cy="16192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85825" y="3095625"/>
            <a:ext cx="49149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0" u="none">
                <a:solidFill>
                  <a:srgbClr val="334155"/>
                </a:solidFill>
                <a:latin typeface="Inter"/>
              </a:rPr>
              <a:t>Proactive Retention:</a:t>
            </a:r>
            <a:r>
              <a:rPr b="0" sz="1050" i="0" u="none">
                <a:solidFill>
                  <a:srgbClr val="334155"/>
                </a:solidFill>
                <a:latin typeface="Inter"/>
              </a:rPr>
              <a:t> Intercepts churn weeks before renewal dates.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5825" y="3390900"/>
            <a:ext cx="49149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0" u="none">
                <a:solidFill>
                  <a:srgbClr val="334155"/>
                </a:solidFill>
                <a:latin typeface="Inter"/>
              </a:rPr>
              <a:t>Agent Efficiency:</a:t>
            </a:r>
            <a:r>
              <a:rPr b="0" sz="1050" i="0" u="none">
                <a:solidFill>
                  <a:srgbClr val="334155"/>
                </a:solidFill>
                <a:latin typeface="Inter"/>
              </a:rPr>
              <a:t> Pre-drafted scripts reduce prep time from 20m to seconds.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91275" y="2790825"/>
            <a:ext cx="161925" cy="16192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638925" y="3095625"/>
            <a:ext cx="49149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0" u="none">
                <a:solidFill>
                  <a:srgbClr val="334155"/>
                </a:solidFill>
                <a:latin typeface="Inter"/>
              </a:rPr>
              <a:t>Human-in-the-Loop:</a:t>
            </a:r>
            <a:r>
              <a:rPr b="0" sz="1050" i="0" u="none">
                <a:solidFill>
                  <a:srgbClr val="334155"/>
                </a:solidFill>
                <a:latin typeface="Inter"/>
              </a:rPr>
              <a:t> AI outputs are presented as drafts for agent review.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38925" y="3390900"/>
            <a:ext cx="49149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0" u="none">
                <a:solidFill>
                  <a:srgbClr val="334155"/>
                </a:solidFill>
                <a:latin typeface="Inter"/>
              </a:rPr>
              <a:t>Zero Data Leakage:</a:t>
            </a:r>
            <a:r>
              <a:rPr b="0" sz="1050" i="0" u="none">
                <a:solidFill>
                  <a:srgbClr val="334155"/>
                </a:solidFill>
                <a:latin typeface="Inter"/>
              </a:rPr>
              <a:t> Runs entirely inside Snowflake security boundary.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8175" y="3124200"/>
            <a:ext cx="123825" cy="142875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8175" y="3419475"/>
            <a:ext cx="123825" cy="142875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91275" y="3124200"/>
            <a:ext cx="123825" cy="142875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91275" y="3419475"/>
            <a:ext cx="123825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09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800850"/>
            <a:ext cx="12192000" cy="571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04800" y="171450"/>
            <a:ext cx="2905125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Poppins"/>
              </a:rPr>
              <a:t>YOURSTORY</a:t>
            </a:r>
            <a:r>
              <a:rPr b="1" sz="1200" i="0" u="none">
                <a:solidFill>
                  <a:srgbClr val="FFFFFF"/>
                </a:solidFill>
                <a:latin typeface="Poppins"/>
              </a:rPr>
              <a:t> </a:t>
            </a:r>
            <a:r>
              <a:rPr b="0" sz="1200" i="0" u="none">
                <a:solidFill>
                  <a:srgbClr val="475569"/>
                </a:solidFill>
                <a:latin typeface="Poppins Light"/>
              </a:rPr>
              <a:t>|</a:t>
            </a:r>
            <a:r>
              <a:rPr b="1" sz="1200" i="0" u="none">
                <a:solidFill>
                  <a:srgbClr val="FFFFFF"/>
                </a:solidFill>
                <a:latin typeface="Poppins"/>
              </a:rPr>
              <a:t> </a:t>
            </a:r>
            <a:r>
              <a:rPr b="1" sz="1200" i="0" u="none">
                <a:solidFill>
                  <a:srgbClr val="00A4E4"/>
                </a:solidFill>
                <a:latin typeface="Poppins"/>
              </a:rPr>
              <a:t>snowflake</a:t>
            </a:r>
            <a:r>
              <a:rPr b="1" sz="1200" i="0" u="none">
                <a:solidFill>
                  <a:srgbClr val="FFFFFF"/>
                </a:solidFill>
                <a:latin typeface="Poppins"/>
              </a:rPr>
              <a:t> </a:t>
            </a:r>
            <a:r>
              <a:rPr b="0" sz="1200" i="0" u="none">
                <a:solidFill>
                  <a:srgbClr val="475569"/>
                </a:solidFill>
                <a:latin typeface="Poppins Light"/>
              </a:rPr>
              <a:t>|</a:t>
            </a:r>
            <a:r>
              <a:rPr b="1" sz="1200" i="0" u="none">
                <a:solidFill>
                  <a:srgbClr val="FFFFFF"/>
                </a:solidFill>
                <a:latin typeface="Poppins"/>
              </a:rPr>
              <a:t> </a:t>
            </a:r>
            <a:r>
              <a:rPr b="1" sz="1200" i="0" u="none">
                <a:solidFill>
                  <a:srgbClr val="FFFFFF"/>
                </a:solidFill>
                <a:latin typeface="Poppins"/>
              </a:rPr>
              <a:t>H2S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15425" y="152400"/>
            <a:ext cx="2771775" cy="2762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200" i="0" u="none">
                <a:solidFill>
                  <a:srgbClr val="94A3B8"/>
                </a:solidFill>
                <a:latin typeface="Inter SemiBold"/>
              </a:rPr>
              <a:t>GCC Edition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02029" y="2082403"/>
            <a:ext cx="3530441" cy="809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4200" i="0" u="none">
                <a:solidFill>
                  <a:srgbClr val="FFFFFF"/>
                </a:solidFill>
                <a:latin typeface="Poppins ExtraBold"/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71762" y="3006328"/>
            <a:ext cx="3990975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BAE6FD"/>
                </a:solidFill>
                <a:latin typeface="Inter"/>
              </a:rPr>
              <a:t>Customer360 AI — Snowflake Cortex Hackathon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5178028"/>
            <a:ext cx="4305300" cy="207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31"/>
              </a:lnSpc>
            </a:pPr>
            <a:r>
              <a:rPr b="0" sz="1087" i="0" u="none">
                <a:solidFill>
                  <a:srgbClr val="94A3B8"/>
                </a:solidFill>
                <a:latin typeface="Inter"/>
              </a:rPr>
              <a:t>Powered by </a:t>
            </a:r>
            <a:r>
              <a:rPr b="1" sz="1087" i="0" u="none">
                <a:solidFill>
                  <a:srgbClr val="94A3B8"/>
                </a:solidFill>
                <a:latin typeface="Inter"/>
              </a:rPr>
              <a:t>Snowflake Cortex AI &amp; Streamlit</a:t>
            </a:r>
            <a:r>
              <a:rPr b="0" sz="1087" i="0" u="none">
                <a:solidFill>
                  <a:srgbClr val="94A3B8"/>
                </a:solidFill>
                <a:latin typeface="Inter"/>
              </a:rPr>
              <a:t> | Team Data Unifiers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15425" y="152400"/>
            <a:ext cx="1895475" cy="2762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075" y="3673078"/>
            <a:ext cx="219075" cy="228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71550" y="3634978"/>
            <a:ext cx="3563987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94A3B8"/>
                </a:solidFill>
                <a:latin typeface="Inter SemiBold"/>
              </a:rPr>
              <a:t>GitHub Repository</a:t>
            </a:r>
            <a:r>
              <a:rPr b="0" sz="1200" i="0" u="none">
                <a:solidFill>
                  <a:srgbClr val="FFFFFF"/>
                </a:solidFill>
                <a:latin typeface="Inter"/>
              </a:rPr>
              <a:t> </a:t>
            </a:r>
            <a:r>
              <a:rPr b="0" sz="1200" i="0" u="none">
                <a:solidFill>
                  <a:srgbClr val="FFFFFF"/>
                </a:solidFill>
                <a:latin typeface="Inter"/>
              </a:rPr>
              <a:t>https://github.com/anusha522/customer360-ai-snowflake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075" y="4458890"/>
            <a:ext cx="228600" cy="228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81075" y="4339828"/>
            <a:ext cx="7753350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94A3B8"/>
                </a:solidFill>
                <a:latin typeface="Inter SemiBold"/>
              </a:rPr>
              <a:t>Live Snowflake Streamlit Application</a:t>
            </a:r>
            <a:r>
              <a:rPr b="0" sz="1200" i="0" u="none">
                <a:solidFill>
                  <a:srgbClr val="FFFFFF"/>
                </a:solidFill>
                <a:latin typeface="Inter"/>
              </a:rPr>
              <a:t> </a:t>
            </a:r>
            <a:r>
              <a:rPr b="0" sz="1200" i="0" u="none">
                <a:solidFill>
                  <a:srgbClr val="FFFFFF"/>
                </a:solidFill>
                <a:latin typeface="Inter"/>
              </a:rPr>
              <a:t>https://app.snowflake.com/trsaclg-xp36877/#/streamlit-apps/CUSTOMER_360_DB.C360.CUSTOMER360_AI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0075" y="4900000"/>
            <a:ext cx="775335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BAE6FD"/>
                </a:solidFill>
                <a:latin typeface="Calibri"/>
              </a:defRPr>
            </a:pPr>
            <a:r>
              <a:t>Demo Access Credentials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  <a:latin typeface="Calibri"/>
              </a:defRPr>
            </a:pPr>
            <a:r>
              <a:t>Account: TRSACLG-XP36877  |  Username: DEMO_VIEWER  |  Password: Customer360Demo!2026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  <a:latin typeface="Calibri"/>
              </a:defRPr>
            </a:pPr>
            <a:r>
              <a:t>Role: CUSTOMER360_VIEWER  |  Warehouse: COMPUTE_WH  |  Read-only access to all 5 app pages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oppins"/>
              </a:rPr>
              <a:t>Image Sources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1638300"/>
            <a:ext cx="857250" cy="476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24075" y="1552575"/>
            <a:ext cx="903922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Inter"/>
              </a:rPr>
              <a:t>https://photos.peopleimages.com/picture/202309/2810998-data-internet-and-futuristic-background-wave-with-blue-connection-abstract-and-technology-illustration-for-big-data-ai-or-a-network-or-stream-of-communication-science-or-music.-blockchain-cloud-fit_400_400.jpg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24075" y="1971675"/>
            <a:ext cx="90392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peopleimages.com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