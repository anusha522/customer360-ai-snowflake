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12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Customer360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210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99AA"/>
                </a:solidFill>
                <a:latin typeface="Calibri"/>
              </a:defRPr>
            </a:pPr>
            <a:r>
              <a:t>AI-Powered Customer Intelligence &amp; Next Best Action for Insurance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00000" y="3200000"/>
            <a:ext cx="1700000" cy="4000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UNIFY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0000" y="3200000"/>
            <a:ext cx="1700000" cy="4000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UNDERSTAND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0" y="3200000"/>
            <a:ext cx="1700000" cy="4000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50000" y="3200000"/>
            <a:ext cx="1700000" cy="4000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RECOMMEND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00000" y="3200000"/>
            <a:ext cx="1700000" cy="4000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0000" y="4200000"/>
            <a:ext cx="1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Team: Data Unifiers  |  Leader: Anil Kumar Yelleti  |  Size: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00" y="4600000"/>
            <a:ext cx="1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498DB"/>
                </a:solidFill>
                <a:latin typeface="Calibri"/>
              </a:defRPr>
            </a:pPr>
            <a:r>
              <a:t>Built entirely with Snowflake Cortex Code (CoCo)  |  GCC Edition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400000"/>
            <a:ext cx="1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YOURSTORY | Snowflake | H2S  •  GCC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Problem Brief &amp; Pain Points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00000"/>
            <a:ext cx="11000000" cy="120000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1300000"/>
            <a:ext cx="10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Siloed Touchpoints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700000"/>
            <a:ext cx="105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Calibri"/>
              </a:defRPr>
            </a:pPr>
            <a:r>
              <a:t>Customer data fragmented across policy admin, claims, billing, and unstructured call transcripts with no unified health 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000" y="2700000"/>
            <a:ext cx="11000000" cy="120000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800000"/>
            <a:ext cx="10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39C12"/>
                </a:solidFill>
                <a:latin typeface="Calibri"/>
              </a:defRPr>
            </a:pPr>
            <a:r>
              <a:t>Reactive Churn Prevention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3200000"/>
            <a:ext cx="105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Calibri"/>
              </a:defRPr>
            </a:pPr>
            <a:r>
              <a:t>Retention teams react after cancellation occurs, missing critical early-warning indicators trapped inside interaction sentiment.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000" y="4200000"/>
            <a:ext cx="11000000" cy="1200000"/>
          </a:xfrm>
          <a:prstGeom prst="roundRect">
            <a:avLst/>
          </a:prstGeom>
          <a:solidFill>
            <a:srgbClr val="F4F6F9"/>
          </a:solidFill>
          <a:ln w="25400">
            <a:solidFill>
              <a:srgbClr val="2C3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4300000"/>
            <a:ext cx="10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6B"/>
                </a:solidFill>
                <a:latin typeface="Calibri"/>
              </a:defRPr>
            </a:pPr>
            <a:r>
              <a:t>Black-Box Risk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000" y="4700000"/>
            <a:ext cx="105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Calibri"/>
              </a:defRPr>
            </a:pPr>
            <a:r>
              <a:t>Relationship managers lack transparent, explainable churn scores. They need clear evidence, not arbitrary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000" y="5700000"/>
            <a:ext cx="1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C3E6B"/>
                </a:solidFill>
                <a:latin typeface="Calibri"/>
              </a:defRPr>
            </a:pPr>
            <a:r>
              <a:t>Target Persona: Relationship Managers, Retention Leads &amp; Support Supervisors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000" y="6400000"/>
            <a:ext cx="1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YOURSTORY | Snowflake | H2S  •  GCC Edition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Architecture &amp; Snowflake Cortex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100000"/>
            <a:ext cx="5200000" cy="5000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Source Tables: Customers, Policies, Claims, Interactions, Transcripts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00000" y="1600000"/>
            <a:ext cx="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498DB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000" y="1900000"/>
            <a:ext cx="5200000" cy="7000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00" y="192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Dynamic Tables (auto-refresh every 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2200000"/>
            <a:ext cx="5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CCDD"/>
                </a:solidFill>
                <a:latin typeface="Calibri"/>
              </a:defRPr>
            </a:pPr>
            <a:r>
              <a:t>CUSTOMER_360_VIEW  |  CHURN_SIGNALS_EXPLAINED  |  NEXT_BEST_ACTION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700000"/>
            <a:ext cx="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498DB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000" y="3000000"/>
            <a:ext cx="5200000" cy="5000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Streamlit-in-Snowflake: Dashboard, 360 View, NL Q&amp;A, Action Center,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1100000"/>
            <a:ext cx="5500000" cy="6000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112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SNOWFLAKE.CORTEX.COMPLETE (llama3.1-70b)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000" y="142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DEEFF"/>
                </a:solidFill>
                <a:latin typeface="Calibri"/>
              </a:defRPr>
            </a:pPr>
            <a:r>
              <a:t>Single Cortex AI function powering all 4 custom SQL UDFs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0" y="2000000"/>
            <a:ext cx="5500000" cy="380000"/>
          </a:xfrm>
          <a:prstGeom prst="roundRect">
            <a:avLst/>
          </a:prstGeom>
          <a:solidFill>
            <a:srgbClr val="22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000" y="203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FN_CUSTOMER_AI_SUMMARY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0000" y="2030000"/>
            <a:ext cx="2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BBCC"/>
                </a:solidFill>
                <a:latin typeface="Calibri"/>
              </a:defRPr>
            </a:pPr>
            <a:r>
              <a:t>Comprehensive customer 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0000" y="2450000"/>
            <a:ext cx="5500000" cy="380000"/>
          </a:xfrm>
          <a:prstGeom prst="roundRect">
            <a:avLst/>
          </a:prstGeom>
          <a:solidFill>
            <a:srgbClr val="22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000" y="248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FN_TRANSCRIPT_INTELLIGENCE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0000" y="2480000"/>
            <a:ext cx="2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BBCC"/>
                </a:solidFill>
                <a:latin typeface="Calibri"/>
              </a:defRPr>
            </a:pPr>
            <a:r>
              <a:t>Call sentiment &amp; cancellation signals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0" y="2900000"/>
            <a:ext cx="5500000" cy="380000"/>
          </a:xfrm>
          <a:prstGeom prst="roundRect">
            <a:avLst/>
          </a:prstGeom>
          <a:solidFill>
            <a:srgbClr val="22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000" y="293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FN_ASK_CUSTOMER_360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0000" y="2930000"/>
            <a:ext cx="2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BBCC"/>
                </a:solidFill>
                <a:latin typeface="Calibri"/>
              </a:defRPr>
            </a:pPr>
            <a:r>
              <a:t>Natural language Q&amp;A over 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0000" y="3350000"/>
            <a:ext cx="5500000" cy="380000"/>
          </a:xfrm>
          <a:prstGeom prst="roundRect">
            <a:avLst/>
          </a:prstGeom>
          <a:solidFill>
            <a:srgbClr val="22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000" y="338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FN_GENERATE_COMMUNICATION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0000" y="3380000"/>
            <a:ext cx="2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BBCC"/>
                </a:solidFill>
                <a:latin typeface="Calibri"/>
              </a:defRPr>
            </a:pPr>
            <a:r>
              <a:t>Phone scripts, emails, SMS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000" y="3800000"/>
            <a:ext cx="1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100% Snowflake-Native: Data, compute, AI inference, and application all run inside Snowflake. No external services, no API keys, no data movement.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0000" y="6400000"/>
            <a:ext cx="1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YOURSTORY | Snowflake | H2S  •  GCC Edition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Data Model &amp; Dynamic Tables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000000"/>
          <a:ext cx="11200000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1000000"/>
                <a:gridCol w="5400000"/>
                <a:gridCol w="2000000"/>
              </a:tblGrid>
              <a:tr h="500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Object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Rows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Demographics, segmentation, CLV,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Source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POLICIES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1,247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Policy types, premiums, payment status, renewals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Source Table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CLAIMS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892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Claim tracking, amounts, severity, 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Source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CUSTOMER_INTERACTIONS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3,500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Multi-channel interactions with sentiment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Source Table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CALL_TRANSCRIPTS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Full call transcripts with AI-extracted intent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Source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t>CUSTOMER_360_VIEW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t>Unified view with 9-signal churn risk scoring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t>Dynamic Table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t>CHURN_SIGNALS_EXPLAINED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t>Explainable churn drivers per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t>Dynamic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t>NEXT_BEST_ACTION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t>407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t>Prioritized retention recommendations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98DB"/>
                          </a:solidFill>
                          <a:latin typeface="Calibri"/>
                        </a:defRPr>
                      </a:pPr>
                      <a:r>
                        <a:t>Dynamic Table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0000" y="5700000"/>
            <a:ext cx="1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Calibri"/>
              </a:defRPr>
            </a:pPr>
            <a:r>
              <a:t>Dynamic Tables auto-refresh every 10 minutes — pre-computed churn scores for instant app loads. FULL refresh mode (CURRENT_DATE in query).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0000" y="6400000"/>
            <a:ext cx="1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YOURSTORY | Snowflake | H2S  •  GCC Edition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Explainable 9-Signal Churn Risk Model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000000"/>
            <a:ext cx="400000" cy="4000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000" y="102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Negative Sentiment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0000" y="102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negative_interactions *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0000" y="102000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Cap: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00" y="1550000"/>
            <a:ext cx="400000" cy="4000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00" y="157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Complaint Volume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0000" y="157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complaints *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0" y="157000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Cap: 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000" y="2100000"/>
            <a:ext cx="400000" cy="4000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000" y="212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Cancellation Intent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0000" y="212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cancellation_interactions *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0000" y="212000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Cap: 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000" y="2650000"/>
            <a:ext cx="400000" cy="4000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000" y="267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Open/Delayed 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0000" y="267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(open + delayed) *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0000" y="267000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Cap: 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000" y="3200000"/>
            <a:ext cx="400000" cy="4000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000" y="322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Payment Issues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0000" y="322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payment_issues *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0000" y="322000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Cap: 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0000" y="3750000"/>
            <a:ext cx="400000" cy="4000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000" y="377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Renewal Proximity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0000" y="377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60d=10, 120d=5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0000" y="377000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Cap: 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0000" y="4300000"/>
            <a:ext cx="400000" cy="4000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000" y="432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Unresolved Issues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0000" y="432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unresolved *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0000" y="432000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C3E6B"/>
                </a:solidFill>
                <a:latin typeface="Calibri"/>
              </a:defRPr>
            </a:pPr>
            <a:r>
              <a:t>Cap: 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0000" y="4850000"/>
            <a:ext cx="400000" cy="4000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000" y="487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Transcript Churn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00000" y="487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churn_intent * 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0000" y="487000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C3E6B"/>
                </a:solidFill>
                <a:latin typeface="Calibri"/>
              </a:defRPr>
            </a:pPr>
            <a:r>
              <a:t>Cap: 15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0000" y="5400000"/>
            <a:ext cx="400000" cy="4000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000" y="542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Sentiment Deterioration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0000" y="542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recent &lt; avg - 0.1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0000" y="542000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C3E6B"/>
                </a:solidFill>
                <a:latin typeface="Calibri"/>
              </a:defRPr>
            </a:pPr>
            <a:r>
              <a:t>Cap: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0000" y="6000000"/>
            <a:ext cx="1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B2A4A"/>
                </a:solidFill>
                <a:latin typeface="Calibri"/>
              </a:defRPr>
            </a:pPr>
            <a:r>
              <a:t>Total Score (0-100): &gt;= 40 = HIGH  |  &gt;= 20 = MEDIUM  |  &lt; 20 = LOW  •  Every score separates DATA FACTS from AI INTERPRETATION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0000" y="6400000"/>
            <a:ext cx="1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YOURSTORY | Snowflake | H2S  •  GCC Edition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Next Best Action Engine &amp; Personalization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000000"/>
            <a:ext cx="5000000" cy="4500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103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Escalate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230000"/>
            <a:ext cx="4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Open high-value claim + complaints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000" y="1550000"/>
            <a:ext cx="5000000" cy="4500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58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Retention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780000"/>
            <a:ext cx="4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High CLV + cancellation intent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000" y="2100000"/>
            <a:ext cx="5000000" cy="4500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213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Renewal Retention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000" y="2330000"/>
            <a:ext cx="4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Cancellation intent + renewal near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000" y="2650000"/>
            <a:ext cx="5000000" cy="4500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68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Expedite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2880000"/>
            <a:ext cx="4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Delayed claims + open claims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000" y="3200000"/>
            <a:ext cx="5000000" cy="4500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000" y="323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Payment Assistance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3430000"/>
            <a:ext cx="4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Overdue status + multiple policies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000" y="3750000"/>
            <a:ext cx="5000000" cy="4500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000" y="378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Service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0000" y="3980000"/>
            <a:ext cx="4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Multiple complaints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00000" y="1000000"/>
            <a:ext cx="5500000" cy="30000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0000" y="10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AI Communication Generator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0000" y="14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Cortex COMPLETE generates context-aware drafts: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0000" y="1800000"/>
            <a:ext cx="5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  Phone Scripts: Empathy-first talking 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0000" y="2200000"/>
            <a:ext cx="5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  Email Drafts: Formal resolution proposals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0000" y="2600000"/>
            <a:ext cx="5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  SMS Messages: Short actionable reminders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0000" y="3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39C12"/>
                </a:solidFill>
                <a:latin typeface="Calibri"/>
              </a:defRPr>
            </a:pPr>
            <a:r>
              <a:t>All drafts labeled AI-Generated</a:t>
            </a:r>
            <a:br/>
            <a:r>
              <a:t>with review-before-sending warnings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000" y="6400000"/>
            <a:ext cx="1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YOURSTORY | Snowflake | H2S  •  GCC Edition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Golden Demo: Emily Mitchell (CUST-0340)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000000"/>
            <a:ext cx="5000000" cy="22000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1050000"/>
            <a:ext cx="4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Featured Customer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400000"/>
            <a:ext cx="4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Customer: Emily Mitchell (Premium Segment)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680000"/>
            <a:ext cx="4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Lifetime Value: ~$53,000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1960000"/>
            <a:ext cx="4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Churn Risk: HIGH (83/100)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2240000"/>
            <a:ext cx="4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Health Score: 10/100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2520000"/>
            <a:ext cx="4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Triggers: $35K claim under review + 4 cancellation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2800000"/>
            <a:ext cx="4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CCDD"/>
                </a:solidFill>
                <a:latin typeface="Calibri"/>
              </a:defRPr>
            </a:pPr>
            <a:r>
              <a:t>calls + overdue Life policy payment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0000" y="100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7-Step Guided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0000" y="1400000"/>
            <a:ext cx="5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A4A"/>
                </a:solidFill>
                <a:latin typeface="Calibri"/>
              </a:defRPr>
            </a:pPr>
            <a:r>
              <a:t>1. Executive Dashboard: View top-risk queue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000" y="1820000"/>
            <a:ext cx="5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A4A"/>
                </a:solidFill>
                <a:latin typeface="Calibri"/>
              </a:defRPr>
            </a:pPr>
            <a:r>
              <a:t>2. Select Emily Mitchell: Auto-loaded as highest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000" y="2240000"/>
            <a:ext cx="5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A4A"/>
                </a:solidFill>
                <a:latin typeface="Calibri"/>
              </a:defRPr>
            </a:pPr>
            <a:r>
              <a:t>3. Risk Drivers: Inspect explainable churn signals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000" y="2660000"/>
            <a:ext cx="5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A4A"/>
                </a:solidFill>
                <a:latin typeface="Calibri"/>
              </a:defRPr>
            </a:pPr>
            <a:r>
              <a:t>4. Transcript Intelligence: See verbatim intent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00000" y="3080000"/>
            <a:ext cx="5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A4A"/>
                </a:solidFill>
                <a:latin typeface="Calibri"/>
              </a:defRPr>
            </a:pPr>
            <a:r>
              <a:t>5. AI Summary: Generate 360 relationship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0000" y="3500000"/>
            <a:ext cx="5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A4A"/>
                </a:solidFill>
                <a:latin typeface="Calibri"/>
              </a:defRPr>
            </a:pPr>
            <a:r>
              <a:t>6. Communication: Create personalized phone 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000" y="3920000"/>
            <a:ext cx="5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A4A"/>
                </a:solidFill>
                <a:latin typeface="Calibri"/>
              </a:defRPr>
            </a:pPr>
            <a:r>
              <a:t>7. Ask Customer 360: Query NL risk reasons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000" y="5700000"/>
            <a:ext cx="1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98DB"/>
                </a:solidFill>
                <a:latin typeface="Calibri"/>
              </a:defRPr>
            </a:pPr>
            <a:r>
              <a:t>Customer 360 page now auto-loads the highest risk customer by default — no manual selection needed for demo.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000" y="6400000"/>
            <a:ext cx="1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YOURSTORY | Snowflake | H2S  •  GCC Edition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Streamlit Application: 5 Pages, 17 Files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000000"/>
            <a:ext cx="11000000" cy="9000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0000" y="1000000"/>
            <a:ext cx="350000" cy="9000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0000" y="10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Executive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1450000"/>
            <a:ext cx="10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Portfolio KPIs, risk/sentiment distribution, AI executive insights, high-priority customer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00" y="2050000"/>
            <a:ext cx="11000000" cy="9000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0000" y="2050000"/>
            <a:ext cx="350000" cy="9000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13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Customer 360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2500000"/>
            <a:ext cx="10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Full profile with 6 tabs: Policies, Claims, Interactions, Transcript Intelligence, AI Summary, Communication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000" y="3100000"/>
            <a:ext cx="11000000" cy="9000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0000" y="3100000"/>
            <a:ext cx="350000" cy="9000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31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Ask Customer 360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3550000"/>
            <a:ext cx="10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Natural language Q&amp;A with customer disambiguation, follow-up actions, evidence-based answers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000" y="4150000"/>
            <a:ext cx="11000000" cy="9000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0000" y="4150000"/>
            <a:ext cx="350000" cy="9000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000" y="423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Action Center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000" y="4600000"/>
            <a:ext cx="10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Filterable work queue by priority, risk, segment, and trigger — operational focus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000" y="5200000"/>
            <a:ext cx="11000000" cy="9000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0000" y="5200000"/>
            <a:ext cx="350000" cy="9000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000" y="52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5650000"/>
            <a:ext cx="10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Management charts: risk by segment, claims by type, health distribution, sentiment drivers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000" y="6400000"/>
            <a:ext cx="1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YOURSTORY | Snowflake | H2S  •  GCC Edition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Measurable Impact &amp; Production Readiness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000000"/>
            <a:ext cx="2600000" cy="12000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0000" y="1100000"/>
            <a:ext cx="2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1550000"/>
            <a:ext cx="2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Snowflake Native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0000" y="1000000"/>
            <a:ext cx="2600000" cy="12000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00000" y="1100000"/>
            <a:ext cx="2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0000" y="1550000"/>
            <a:ext cx="2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Explainable Risk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0000" y="1000000"/>
            <a:ext cx="2600000" cy="12000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0" y="1100000"/>
            <a:ext cx="2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0" y="1550000"/>
            <a:ext cx="2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Automated 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00000" y="1000000"/>
            <a:ext cx="2600000" cy="12000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0000" y="1100000"/>
            <a:ext cx="2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&lt; 10s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0000" y="1550000"/>
            <a:ext cx="2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LLM Synthesis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000" y="2600000"/>
            <a:ext cx="10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B2A4A"/>
                </a:solidFill>
                <a:latin typeface="Calibri"/>
              </a:defRPr>
            </a:pPr>
            <a:r>
              <a:t>  Proactive Retention: Intercepts churn weeks before renewal 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00" y="3050000"/>
            <a:ext cx="10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B2A4A"/>
                </a:solidFill>
                <a:latin typeface="Calibri"/>
              </a:defRPr>
            </a:pPr>
            <a:r>
              <a:t>  Agent Efficiency: Pre-drafted scripts reduce prep from 20min to seconds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3500000"/>
            <a:ext cx="10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B2A4A"/>
                </a:solidFill>
                <a:latin typeface="Calibri"/>
              </a:defRPr>
            </a:pPr>
            <a:r>
              <a:t>  Dynamic Tables: Pre-computed churn scores refresh every 10 minutes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000" y="3950000"/>
            <a:ext cx="10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B2A4A"/>
                </a:solidFill>
                <a:latin typeface="Calibri"/>
              </a:defRPr>
            </a:pPr>
            <a:r>
              <a:t>  Human-in-the-Loop: AI outputs are presented as drafts for agent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000" y="4400000"/>
            <a:ext cx="10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B2A4A"/>
                </a:solidFill>
                <a:latin typeface="Calibri"/>
              </a:defRPr>
            </a:pPr>
            <a:r>
              <a:t>  Zero Data Leakage: Runs entirely inside Snowflake security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0000" y="4850000"/>
            <a:ext cx="10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B2A4A"/>
                </a:solidFill>
                <a:latin typeface="Calibri"/>
              </a:defRPr>
            </a:pPr>
            <a:r>
              <a:t>  Built with CoCo: Entire app generated via Cortex Code — no manual IDE needed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000" y="6400000"/>
            <a:ext cx="1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YOURSTORY | Snowflake | H2S  •  GCC Edition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30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Demo Access &amp; Credentials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000000" y="1100000"/>
            <a:ext cx="8000000" cy="28000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00000" y="1200000"/>
            <a:ext cx="7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Snowflake Demo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00000" y="16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8899AA"/>
                </a:solidFill>
                <a:latin typeface="Calibri"/>
              </a:defRPr>
            </a:pPr>
            <a:r>
              <a:t>Account: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00000" y="1600000"/>
            <a:ext cx="4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TRSACLG-XP36877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0000" y="19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8899AA"/>
                </a:solidFill>
                <a:latin typeface="Calibri"/>
              </a:defRPr>
            </a:pPr>
            <a:r>
              <a:t>Login URL: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0000" y="1930000"/>
            <a:ext cx="4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https://app.snowflake.com/trsaclg-xp36877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0000" y="226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8899AA"/>
                </a:solidFill>
                <a:latin typeface="Calibri"/>
              </a:defRPr>
            </a:pPr>
            <a:r>
              <a:t>Username: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0000" y="2260000"/>
            <a:ext cx="4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DEMO_VIEWER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0000" y="259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8899AA"/>
                </a:solidFill>
                <a:latin typeface="Calibri"/>
              </a:defRPr>
            </a:pPr>
            <a:r>
              <a:t>Password: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0000" y="2590000"/>
            <a:ext cx="4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Customer360Demo!2026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0000" y="292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8899AA"/>
                </a:solidFill>
                <a:latin typeface="Calibri"/>
              </a:defRPr>
            </a:pPr>
            <a:r>
              <a:t>Role: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00000" y="2920000"/>
            <a:ext cx="4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CUSTOMER360_VIEWER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0000" y="325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8899AA"/>
                </a:solidFill>
                <a:latin typeface="Calibri"/>
              </a:defRPr>
            </a:pPr>
            <a:r>
              <a:t>Warehouse: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0000" y="3250000"/>
            <a:ext cx="4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COMPUTE_WH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00000" y="4200000"/>
            <a:ext cx="8000000" cy="700000"/>
          </a:xfrm>
          <a:prstGeom prst="roundRect">
            <a:avLst/>
          </a:prstGeom>
          <a:solidFill>
            <a:srgbClr val="22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00000" y="4250000"/>
            <a:ext cx="7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98DB"/>
                </a:solidFill>
                <a:latin typeface="Calibri"/>
              </a:defRPr>
            </a:pPr>
            <a:r>
              <a:t>Streamlit App: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000" y="425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https://app.snowflake.com/trsaclg-xp36877/#/streamlit-apps/CUSTOMER_360_DB.C360.CUSTOMER360_AI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00000" y="4550000"/>
            <a:ext cx="7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98DB"/>
                </a:solidFill>
                <a:latin typeface="Calibri"/>
              </a:defRPr>
            </a:pPr>
            <a:r>
              <a:t>GitHub Repo: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0000" y="455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https://github.com/anusha522/customer360-ai-snowflake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000" y="5300000"/>
            <a:ext cx="1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Calibri"/>
              </a:defRPr>
            </a:pPr>
            <a:r>
              <a:t>Read-only access — viewer can explore all 5 pages, generate AI summaries, and run Q&amp;A.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000" y="6400000"/>
            <a:ext cx="1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YOURSTORY | Snowflake | H2S  •  GCC Edition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15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0000" y="2500000"/>
            <a:ext cx="1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99AA"/>
                </a:solidFill>
                <a:latin typeface="Calibri"/>
              </a:defRPr>
            </a:pPr>
            <a:r>
              <a:t>Customer360 AI — Snowflake Cortex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000" y="3100000"/>
            <a:ext cx="1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498DB"/>
                </a:solidFill>
                <a:latin typeface="Calibri"/>
              </a:defRPr>
            </a:pPr>
            <a:r>
              <a:t>Powered by Snowflake Cortex AI, Dynamic Tables &amp; Streamlit  |  Team Data Unifiers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4200000"/>
            <a:ext cx="11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Calibri"/>
              </a:defRPr>
            </a:pPr>
            <a:r>
              <a:t>GitHub:  https://github.com/anusha522/customer360-ai-snowflake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4600000"/>
            <a:ext cx="11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Calibri"/>
              </a:defRPr>
            </a:pPr>
            <a:r>
              <a:t>Streamlit App:  https://app.snowflake.com/trsaclg-xp36877/#/streamlit-apps/CUSTOMER_360_DB.C360.CUSTOMER360_AI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000" y="6400000"/>
            <a:ext cx="1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YOURSTORY | Snowflake | H2S  •  GCC Edition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